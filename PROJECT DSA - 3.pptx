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0"/>
  </p:notesMasterIdLst>
  <p:handoutMasterIdLst>
    <p:handoutMasterId r:id="rId11"/>
  </p:handoutMasterIdLst>
  <p:sldIdLst>
    <p:sldId id="258" r:id="rId3"/>
    <p:sldId id="391" r:id="rId4"/>
    <p:sldId id="392" r:id="rId5"/>
    <p:sldId id="393" r:id="rId6"/>
    <p:sldId id="394" r:id="rId7"/>
    <p:sldId id="395" r:id="rId8"/>
    <p:sldId id="33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6" autoAdjust="0"/>
    <p:restoredTop sz="95033" autoAdjust="0"/>
  </p:normalViewPr>
  <p:slideViewPr>
    <p:cSldViewPr snapToGrid="0" snapToObjects="1">
      <p:cViewPr varScale="1">
        <p:scale>
          <a:sx n="91" d="100"/>
          <a:sy n="91" d="100"/>
        </p:scale>
        <p:origin x="120" y="5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9/18/2026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269994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18-09-2026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18-09-2026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18-09-2026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18-09-2026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18-09-2026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18-09-2026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18-09-2026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18-09-2026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18-09-2026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18-09-2026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18-09-2026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18-09-2026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18-09-2026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18-09-2026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18-09-2026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18-09-2026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18-09-2026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18-09-2026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1018566" y="1826000"/>
            <a:ext cx="10392383" cy="776839"/>
          </a:xfrm>
        </p:spPr>
        <p:txBody>
          <a:bodyPr>
            <a:noAutofit/>
          </a:bodyPr>
          <a:lstStyle/>
          <a:p>
            <a:pPr>
              <a:lnSpc>
                <a:spcPts val="4600"/>
              </a:lnSpc>
            </a:pPr>
            <a:br>
              <a:rPr lang="en-US" sz="3600" b="1" dirty="0">
                <a:latin typeface="+mn-lt"/>
                <a:cs typeface="Arial" panose="020B0604020202020204" pitchFamily="34" charset="0"/>
              </a:rPr>
            </a:br>
            <a:br>
              <a:rPr lang="en-US" sz="3600" b="1" dirty="0">
                <a:solidFill>
                  <a:srgbClr val="FF0000"/>
                </a:solidFill>
                <a:latin typeface="+mn-lt"/>
                <a:cs typeface="Arial" panose="020B0604020202020204" pitchFamily="34" charset="0"/>
              </a:rPr>
            </a:br>
            <a:br>
              <a:rPr lang="en-US" sz="3600" dirty="0"/>
            </a:br>
            <a:r>
              <a:rPr lang="en-US" sz="3600" b="1" dirty="0">
                <a:solidFill>
                  <a:srgbClr val="FFFFFF"/>
                </a:solidFill>
                <a:latin typeface="Cambria" pitchFamily="34" charset="0"/>
                <a:ea typeface="Cambria" pitchFamily="34" charset="-122"/>
                <a:cs typeface="Cambria" pitchFamily="34" charset="-120"/>
              </a:rPr>
              <a:t>Tree Diameter Computation</a:t>
            </a:r>
            <a:br>
              <a:rPr lang="en-US" sz="3600" dirty="0"/>
            </a:br>
            <a:r>
              <a:rPr lang="en-US" sz="3600" b="1" dirty="0">
                <a:solidFill>
                  <a:srgbClr val="FFFFFF"/>
                </a:solidFill>
                <a:latin typeface="Cambria" pitchFamily="34" charset="0"/>
                <a:ea typeface="Cambria" pitchFamily="34" charset="-122"/>
                <a:cs typeface="Cambria" pitchFamily="34" charset="-120"/>
              </a:rPr>
              <a:t>&amp; Visualization System</a:t>
            </a:r>
            <a:br>
              <a:rPr lang="en-US" sz="3600" dirty="0"/>
            </a:br>
            <a:r>
              <a:rPr lang="en-US" sz="3600" b="1" dirty="0">
                <a:solidFill>
                  <a:srgbClr val="FFFFFF"/>
                </a:solidFill>
                <a:latin typeface="Cambria" pitchFamily="34" charset="0"/>
                <a:ea typeface="Cambria" pitchFamily="34" charset="-122"/>
                <a:cs typeface="Cambria" pitchFamily="34" charset="-120"/>
              </a:rPr>
              <a:t>Tree Diameter Computation</a:t>
            </a:r>
            <a:br>
              <a:rPr lang="en-US" sz="3600" dirty="0"/>
            </a:br>
            <a:r>
              <a:rPr lang="en-US" sz="3600" b="1" dirty="0">
                <a:solidFill>
                  <a:srgbClr val="FFFFFF"/>
                </a:solidFill>
                <a:latin typeface="Cambria" pitchFamily="34" charset="0"/>
                <a:ea typeface="Cambria" pitchFamily="34" charset="-122"/>
                <a:cs typeface="Cambria" pitchFamily="34" charset="-120"/>
              </a:rPr>
              <a:t>&amp; </a:t>
            </a:r>
            <a:r>
              <a:rPr lang="en-US" sz="3600" b="1" dirty="0" err="1">
                <a:solidFill>
                  <a:srgbClr val="FFFFFF"/>
                </a:solidFill>
                <a:latin typeface="Cambria" pitchFamily="34" charset="0"/>
                <a:ea typeface="Cambria" pitchFamily="34" charset="-122"/>
                <a:cs typeface="Cambria" pitchFamily="34" charset="-120"/>
              </a:rPr>
              <a:t>VisTreeualizatr</a:t>
            </a:r>
            <a:r>
              <a:rPr lang="en-US" sz="3600" b="1" dirty="0">
                <a:solidFill>
                  <a:srgbClr val="FFFFFF"/>
                </a:solidFill>
                <a:latin typeface="Cambria" pitchFamily="34" charset="0"/>
                <a:ea typeface="Cambria" pitchFamily="34" charset="-122"/>
                <a:cs typeface="Cambria" pitchFamily="34" charset="-120"/>
              </a:rPr>
              <a:t> Computation</a:t>
            </a:r>
            <a:br>
              <a:rPr lang="en-US" sz="3600" dirty="0"/>
            </a:br>
            <a:r>
              <a:rPr lang="en-US" sz="3600" b="1" dirty="0">
                <a:solidFill>
                  <a:srgbClr val="FFFFFF"/>
                </a:solidFill>
                <a:latin typeface="Cambria" pitchFamily="34" charset="0"/>
                <a:ea typeface="Cambria" pitchFamily="34" charset="-122"/>
                <a:cs typeface="Cambria" pitchFamily="34" charset="-120"/>
              </a:rPr>
              <a:t>&amp; Visualization System</a:t>
            </a:r>
            <a:br>
              <a:rPr lang="en-US" sz="3600" dirty="0"/>
            </a:br>
            <a:r>
              <a:rPr lang="en-US" sz="3600" b="1" dirty="0">
                <a:solidFill>
                  <a:srgbClr val="FFFFFF"/>
                </a:solidFill>
                <a:latin typeface="Cambria" pitchFamily="34" charset="0"/>
                <a:ea typeface="Cambria" pitchFamily="34" charset="-122"/>
                <a:cs typeface="Cambria" pitchFamily="34" charset="-120"/>
              </a:rPr>
              <a:t>Tree Diameter Computation</a:t>
            </a:r>
            <a:br>
              <a:rPr lang="en-US" sz="3600" dirty="0"/>
            </a:br>
            <a:r>
              <a:rPr lang="en-US" sz="3600" b="1" dirty="0">
                <a:solidFill>
                  <a:srgbClr val="FFFFFF"/>
                </a:solidFill>
                <a:latin typeface="Cambria" pitchFamily="34" charset="0"/>
                <a:ea typeface="Cambria" pitchFamily="34" charset="-122"/>
                <a:cs typeface="Cambria" pitchFamily="34" charset="-120"/>
              </a:rPr>
              <a:t>&amp; Visualization System</a:t>
            </a:r>
            <a:br>
              <a:rPr lang="en-US" sz="3600" dirty="0"/>
            </a:br>
            <a:br>
              <a:rPr lang="en-IN" sz="3600" b="1" dirty="0">
                <a:latin typeface="+mn-lt"/>
              </a:rPr>
            </a:br>
            <a:br>
              <a:rPr lang="en-US" sz="3600" b="1" dirty="0">
                <a:solidFill>
                  <a:srgbClr val="011893"/>
                </a:solidFill>
                <a:latin typeface="+mn-lt"/>
                <a:cs typeface="Arial" panose="020B0604020202020204" pitchFamily="34" charset="0"/>
              </a:rPr>
            </a:br>
            <a:endParaRPr lang="en-US" sz="3600" b="1" dirty="0">
              <a:solidFill>
                <a:srgbClr val="011893"/>
              </a:solidFill>
              <a:latin typeface="+mn-lt"/>
              <a:cs typeface="Arial" panose="020B0604020202020204" pitchFamily="34" charset="0"/>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8965" y="0"/>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850191510"/>
              </p:ext>
            </p:extLst>
          </p:nvPr>
        </p:nvGraphicFramePr>
        <p:xfrm>
          <a:off x="1409700" y="3429000"/>
          <a:ext cx="8750302" cy="1524000"/>
        </p:xfrm>
        <a:graphic>
          <a:graphicData uri="http://schemas.openxmlformats.org/drawingml/2006/table">
            <a:tbl>
              <a:tblPr firstRow="1" bandRow="1">
                <a:tableStyleId>{5940675A-B579-460E-94D1-54222C63F5DA}</a:tableStyleId>
              </a:tblPr>
              <a:tblGrid>
                <a:gridCol w="4375151">
                  <a:extLst>
                    <a:ext uri="{9D8B030D-6E8A-4147-A177-3AD203B41FA5}">
                      <a16:colId xmlns:a16="http://schemas.microsoft.com/office/drawing/2014/main" val="2649491121"/>
                    </a:ext>
                  </a:extLst>
                </a:gridCol>
                <a:gridCol w="4375151">
                  <a:extLst>
                    <a:ext uri="{9D8B030D-6E8A-4147-A177-3AD203B41FA5}">
                      <a16:colId xmlns:a16="http://schemas.microsoft.com/office/drawing/2014/main" val="1478369533"/>
                    </a:ext>
                  </a:extLst>
                </a:gridCol>
              </a:tblGrid>
              <a:tr h="50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t>pranitha</a:t>
                      </a:r>
                      <a:endParaRPr lang="en-US" sz="1800" dirty="0"/>
                    </a:p>
                  </a:txBody>
                  <a:tcPr/>
                </a:tc>
                <a:tc>
                  <a:txBody>
                    <a:bodyPr/>
                    <a:lstStyle/>
                    <a:p>
                      <a:r>
                        <a:rPr lang="en-US" dirty="0"/>
                        <a:t>2520030051</a:t>
                      </a:r>
                    </a:p>
                  </a:txBody>
                  <a:tcPr/>
                </a:tc>
                <a:extLst>
                  <a:ext uri="{0D108BD9-81ED-4DB2-BD59-A6C34878D82A}">
                    <a16:rowId xmlns:a16="http://schemas.microsoft.com/office/drawing/2014/main" val="253518174"/>
                  </a:ext>
                </a:extLst>
              </a:tr>
              <a:tr h="508000">
                <a:tc>
                  <a:txBody>
                    <a:bodyPr/>
                    <a:lstStyle/>
                    <a:p>
                      <a:r>
                        <a:rPr lang="en-US" dirty="0"/>
                        <a:t>Angela</a:t>
                      </a:r>
                    </a:p>
                  </a:txBody>
                  <a:tcPr/>
                </a:tc>
                <a:tc>
                  <a:txBody>
                    <a:bodyPr/>
                    <a:lstStyle/>
                    <a:p>
                      <a:r>
                        <a:rPr lang="en-US" dirty="0"/>
                        <a:t>2520030365</a:t>
                      </a:r>
                    </a:p>
                  </a:txBody>
                  <a:tcPr/>
                </a:tc>
                <a:extLst>
                  <a:ext uri="{0D108BD9-81ED-4DB2-BD59-A6C34878D82A}">
                    <a16:rowId xmlns:a16="http://schemas.microsoft.com/office/drawing/2014/main" val="2413438055"/>
                  </a:ext>
                </a:extLst>
              </a:tr>
              <a:tr h="508000">
                <a:tc>
                  <a:txBody>
                    <a:bodyPr/>
                    <a:lstStyle/>
                    <a:p>
                      <a:r>
                        <a:rPr lang="en-US" dirty="0"/>
                        <a:t>Harshika</a:t>
                      </a:r>
                    </a:p>
                  </a:txBody>
                  <a:tcPr/>
                </a:tc>
                <a:tc>
                  <a:txBody>
                    <a:bodyPr/>
                    <a:lstStyle/>
                    <a:p>
                      <a:r>
                        <a:rPr lang="en-US" dirty="0"/>
                        <a:t>25200300607</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a:xfrm>
            <a:off x="552449" y="31750"/>
            <a:ext cx="10515600" cy="1325563"/>
          </a:xfrm>
        </p:spPr>
        <p:txBody>
          <a:bodyPr>
            <a:normAutofit/>
          </a:bodyPr>
          <a:lstStyle/>
          <a:p>
            <a:pPr algn="ctr"/>
            <a:r>
              <a:rPr lang="en-IN" sz="4000" b="1" dirty="0">
                <a:latin typeface="+mn-lt"/>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2</a:t>
            </a:fld>
            <a:endParaRPr lang="en-US" dirty="0"/>
          </a:p>
        </p:txBody>
      </p:sp>
      <p:sp>
        <p:nvSpPr>
          <p:cNvPr id="3" name="TextBox 2">
            <a:extLst>
              <a:ext uri="{FF2B5EF4-FFF2-40B4-BE49-F238E27FC236}">
                <a16:creationId xmlns:a16="http://schemas.microsoft.com/office/drawing/2014/main" id="{36791855-59C3-0ABF-BF43-F5D1569D98D5}"/>
              </a:ext>
            </a:extLst>
          </p:cNvPr>
          <p:cNvSpPr txBox="1"/>
          <p:nvPr/>
        </p:nvSpPr>
        <p:spPr>
          <a:xfrm>
            <a:off x="481011" y="1056143"/>
            <a:ext cx="11229975" cy="4516621"/>
          </a:xfrm>
          <a:prstGeom prst="rect">
            <a:avLst/>
          </a:prstGeom>
          <a:noFill/>
        </p:spPr>
        <p:txBody>
          <a:bodyPr wrap="square" rtlCol="0">
            <a:spAutoFit/>
          </a:bodyPr>
          <a:lstStyle/>
          <a:p>
            <a:pPr>
              <a:lnSpc>
                <a:spcPts val="2300"/>
              </a:lnSpc>
            </a:pPr>
            <a:r>
              <a:rPr lang="en-US" sz="2400" dirty="0">
                <a:solidFill>
                  <a:srgbClr val="33294A"/>
                </a:solidFill>
                <a:latin typeface="Times New Roman" panose="02020603050405020304" pitchFamily="18" charset="0"/>
                <a:ea typeface="Calibri" pitchFamily="34" charset="-122"/>
                <a:cs typeface="Times New Roman" panose="02020603050405020304" pitchFamily="18" charset="0"/>
              </a:rPr>
              <a:t>The Tree Diameter Computation and Visualization System is an application designed to compute the diameter of a tree using dynamic programming techniques. The objective is to determine the longest path between any two nodes in a given tree efficiently. The system takes tree edges as input, constructs the corresponding tree structure, and processes it using a tree-based dynamic programming approach. By calculating and reusing the longest paths associated with each node, the system reduces redundant computations and efficiently determines the tree diameter.</a:t>
            </a:r>
            <a:endParaRPr lang="en-US" sz="2400" dirty="0">
              <a:latin typeface="Times New Roman" panose="02020603050405020304" pitchFamily="18" charset="0"/>
              <a:cs typeface="Times New Roman" panose="02020603050405020304" pitchFamily="18" charset="0"/>
            </a:endParaRPr>
          </a:p>
          <a:p>
            <a:pPr>
              <a:lnSpc>
                <a:spcPts val="2300"/>
              </a:lnSpc>
            </a:pPr>
            <a:endParaRPr lang="en-US" sz="2400" dirty="0">
              <a:latin typeface="Times New Roman" panose="02020603050405020304" pitchFamily="18" charset="0"/>
              <a:cs typeface="Times New Roman" panose="02020603050405020304" pitchFamily="18" charset="0"/>
            </a:endParaRPr>
          </a:p>
          <a:p>
            <a:pPr>
              <a:lnSpc>
                <a:spcPts val="2300"/>
              </a:lnSpc>
            </a:pPr>
            <a:r>
              <a:rPr lang="en-US" sz="2400" dirty="0">
                <a:solidFill>
                  <a:srgbClr val="33294A"/>
                </a:solidFill>
                <a:latin typeface="Times New Roman" panose="02020603050405020304" pitchFamily="18" charset="0"/>
                <a:ea typeface="Calibri" pitchFamily="34" charset="-122"/>
                <a:cs typeface="Times New Roman" panose="02020603050405020304" pitchFamily="18" charset="0"/>
              </a:rPr>
              <a:t>The system produces the diameter length, representing the number of edges in the longest path between two nodes. Along with the numerical result, it visualizes the tree and highlights the diameter path, making the result easier to understand. The application is designed to handle trees with up to 1000 nodes, allowing it to process moderately large tree structures efficiently. Overall, the project demonstrates the practical use of dynamic programming, tree traversal, and visualization to solve the tree diameter problem in an efficient and intuitive manner.</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6421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4000" b="1" dirty="0">
                <a:latin typeface="+mn-lt"/>
              </a:rPr>
              <a:t>Problem Statement</a:t>
            </a:r>
            <a:endParaRPr lang="en-IN" sz="4000" b="1" dirty="0">
              <a:solidFill>
                <a:srgbClr val="0070C0"/>
              </a:solidFill>
              <a:latin typeface="+mn-lt"/>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9" name="TextBox 8">
            <a:extLst>
              <a:ext uri="{FF2B5EF4-FFF2-40B4-BE49-F238E27FC236}">
                <a16:creationId xmlns:a16="http://schemas.microsoft.com/office/drawing/2014/main" id="{A5F6CA17-9BC6-9635-4C14-7BA93A55CCFA}"/>
              </a:ext>
            </a:extLst>
          </p:cNvPr>
          <p:cNvSpPr txBox="1"/>
          <p:nvPr/>
        </p:nvSpPr>
        <p:spPr>
          <a:xfrm>
            <a:off x="481012" y="1531144"/>
            <a:ext cx="11229975" cy="3913059"/>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US" sz="2400" dirty="0">
                <a:solidFill>
                  <a:srgbClr val="33294A"/>
                </a:solidFill>
                <a:latin typeface="Times New Roman" panose="02020603050405020304" pitchFamily="18" charset="0"/>
                <a:ea typeface="Calibri" pitchFamily="34" charset="-122"/>
                <a:cs typeface="Times New Roman" panose="02020603050405020304" pitchFamily="18" charset="0"/>
              </a:rPr>
              <a:t>Develop an application to compute the diameter of a tree using dynamic programming techniques. The system should accept the tree edges as input, construct the tree, and determine the longest path between any two nodes efficiently. The calculated diameter length should be displayed as the output. The application should also visualize the tree and highlight the nodes and edges that form the diameter path. The system should be capable of processing trees containing up to 1000 nodes and demonstrate the practical use of dynamic programming and tree traversal techniques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5092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4000" b="1" dirty="0">
                <a:latin typeface="+mn-lt"/>
              </a:rPr>
              <a:t>Proposed Functionalities</a:t>
            </a:r>
            <a:endParaRPr lang="en-IN" sz="4000" b="1" dirty="0">
              <a:solidFill>
                <a:srgbClr val="0070C0"/>
              </a:solidFill>
              <a:latin typeface="+mn-lt"/>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9" name="TextBox 8">
            <a:extLst>
              <a:ext uri="{FF2B5EF4-FFF2-40B4-BE49-F238E27FC236}">
                <a16:creationId xmlns:a16="http://schemas.microsoft.com/office/drawing/2014/main" id="{B532C58F-E7E5-BD0C-BB0C-3C29373A2832}"/>
              </a:ext>
            </a:extLst>
          </p:cNvPr>
          <p:cNvSpPr txBox="1"/>
          <p:nvPr/>
        </p:nvSpPr>
        <p:spPr>
          <a:xfrm>
            <a:off x="481012" y="1361489"/>
            <a:ext cx="11229975" cy="589072"/>
          </a:xfrm>
          <a:prstGeom prst="rect">
            <a:avLst/>
          </a:prstGeom>
          <a:noFill/>
        </p:spPr>
        <p:txBody>
          <a:bodyPr wrap="square" rtlCol="0">
            <a:spAutoFit/>
          </a:bodyPr>
          <a:lstStyle/>
          <a:p>
            <a:pPr marL="457200" lvl="0" indent="-457200">
              <a:lnSpc>
                <a:spcPct val="150000"/>
              </a:lnSpc>
              <a:buFont typeface="Arial" panose="020B0604020202020204" pitchFamily="34" charset="0"/>
              <a:buChar char="•"/>
            </a:pPr>
            <a:endParaRPr lang="en-IN" sz="2400" dirty="0"/>
          </a:p>
        </p:txBody>
      </p:sp>
    </p:spTree>
    <p:extLst>
      <p:ext uri="{BB962C8B-B14F-4D97-AF65-F5344CB8AC3E}">
        <p14:creationId xmlns:p14="http://schemas.microsoft.com/office/powerpoint/2010/main" val="3485086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4000" b="1" dirty="0">
                <a:latin typeface="+mn-lt"/>
              </a:rPr>
              <a:t>Tools and Technologies to be Used</a:t>
            </a:r>
            <a:endParaRPr lang="en-IN" sz="4000" b="1" dirty="0">
              <a:solidFill>
                <a:srgbClr val="0070C0"/>
              </a:solidFill>
              <a:latin typeface="+mn-lt"/>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7" name="TextBox 6">
            <a:extLst>
              <a:ext uri="{FF2B5EF4-FFF2-40B4-BE49-F238E27FC236}">
                <a16:creationId xmlns:a16="http://schemas.microsoft.com/office/drawing/2014/main" id="{FE18C1A7-BDE6-6AEF-DCF7-2692828CEACA}"/>
              </a:ext>
            </a:extLst>
          </p:cNvPr>
          <p:cNvSpPr txBox="1"/>
          <p:nvPr/>
        </p:nvSpPr>
        <p:spPr>
          <a:xfrm>
            <a:off x="481012" y="1587887"/>
            <a:ext cx="11229975" cy="3682226"/>
          </a:xfrm>
          <a:prstGeom prst="rect">
            <a:avLst/>
          </a:prstGeom>
          <a:noFill/>
        </p:spPr>
        <p:txBody>
          <a:bodyPr wrap="square" rtlCol="0">
            <a:spAutoFit/>
          </a:bodyPr>
          <a:lstStyle/>
          <a:p>
            <a:pPr marL="342900" lvl="0" indent="-342900">
              <a:lnSpc>
                <a:spcPct val="200000"/>
              </a:lnSpc>
              <a:buFont typeface="Arial" panose="020B0604020202020204" pitchFamily="34" charset="0"/>
              <a:buChar char="•"/>
            </a:pPr>
            <a:r>
              <a:rPr lang="en-IN" sz="2400" b="1" dirty="0"/>
              <a:t>Programming Language:</a:t>
            </a:r>
            <a:r>
              <a:rPr lang="en-IN" sz="2400" dirty="0"/>
              <a:t> Java</a:t>
            </a:r>
          </a:p>
          <a:p>
            <a:pPr marL="342900" lvl="0" indent="-342900">
              <a:lnSpc>
                <a:spcPct val="200000"/>
              </a:lnSpc>
              <a:buFont typeface="Arial" panose="020B0604020202020204" pitchFamily="34" charset="0"/>
              <a:buChar char="•"/>
            </a:pPr>
            <a:r>
              <a:rPr lang="en-IN" sz="2400" b="1" dirty="0"/>
              <a:t>Core Algorithm:</a:t>
            </a:r>
            <a:r>
              <a:rPr lang="en-IN" sz="2400" dirty="0"/>
              <a:t> Optimal Binary Search Tree </a:t>
            </a:r>
          </a:p>
          <a:p>
            <a:pPr marL="342900" lvl="0" indent="-342900">
              <a:lnSpc>
                <a:spcPct val="200000"/>
              </a:lnSpc>
              <a:buFont typeface="Arial" panose="020B0604020202020204" pitchFamily="34" charset="0"/>
              <a:buChar char="•"/>
            </a:pPr>
            <a:r>
              <a:rPr lang="en-IN" sz="2400" b="1" dirty="0"/>
              <a:t>Algorithmic Technique:</a:t>
            </a:r>
            <a:r>
              <a:rPr lang="en-IN" sz="2400" dirty="0"/>
              <a:t> Interval Dynamic Programming </a:t>
            </a:r>
          </a:p>
          <a:p>
            <a:pPr marL="342900" lvl="0" indent="-342900">
              <a:lnSpc>
                <a:spcPct val="200000"/>
              </a:lnSpc>
              <a:buFont typeface="Arial" panose="020B0604020202020204" pitchFamily="34" charset="0"/>
              <a:buChar char="•"/>
            </a:pPr>
            <a:r>
              <a:rPr lang="en-IN" sz="2400" b="1" dirty="0"/>
              <a:t>Data Structures:</a:t>
            </a:r>
            <a:r>
              <a:rPr lang="en-IN" sz="2400" dirty="0"/>
              <a:t> Binary Search Tree, Arrays / Matrices </a:t>
            </a:r>
          </a:p>
          <a:p>
            <a:pPr marL="342900" lvl="0" indent="-342900">
              <a:lnSpc>
                <a:spcPct val="200000"/>
              </a:lnSpc>
              <a:buFont typeface="Arial" panose="020B0604020202020204" pitchFamily="34" charset="0"/>
              <a:buChar char="•"/>
            </a:pPr>
            <a:r>
              <a:rPr lang="en-IN" sz="2400" b="1" dirty="0"/>
              <a:t>Development Environment:</a:t>
            </a:r>
            <a:r>
              <a:rPr lang="en-IN" sz="2400" dirty="0"/>
              <a:t> VS Code </a:t>
            </a:r>
          </a:p>
        </p:txBody>
      </p:sp>
    </p:spTree>
    <p:extLst>
      <p:ext uri="{BB962C8B-B14F-4D97-AF65-F5344CB8AC3E}">
        <p14:creationId xmlns:p14="http://schemas.microsoft.com/office/powerpoint/2010/main" val="2029224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4000" b="1" dirty="0">
                <a:latin typeface="+mn-lt"/>
              </a:rPr>
              <a:t>Expected Outcome</a:t>
            </a:r>
            <a:endParaRPr lang="en-IN" sz="4000" b="1" dirty="0">
              <a:solidFill>
                <a:srgbClr val="0070C0"/>
              </a:solidFill>
              <a:latin typeface="+mn-lt"/>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9" name="TextBox 8">
            <a:extLst>
              <a:ext uri="{FF2B5EF4-FFF2-40B4-BE49-F238E27FC236}">
                <a16:creationId xmlns:a16="http://schemas.microsoft.com/office/drawing/2014/main" id="{4DF90C48-73EA-FFBA-982C-AFE2AB091EB1}"/>
              </a:ext>
            </a:extLst>
          </p:cNvPr>
          <p:cNvSpPr txBox="1"/>
          <p:nvPr/>
        </p:nvSpPr>
        <p:spPr>
          <a:xfrm>
            <a:off x="481012" y="1531144"/>
            <a:ext cx="11229975" cy="50210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Construct an Optimal Binary Search Tree (OBST) using the given keys and search frequencies.</a:t>
            </a:r>
          </a:p>
          <a:p>
            <a:pPr marL="342900" indent="-342900">
              <a:lnSpc>
                <a:spcPct val="150000"/>
              </a:lnSpc>
              <a:buFont typeface="Arial" panose="020B0604020202020204" pitchFamily="34" charset="0"/>
              <a:buChar char="•"/>
            </a:pPr>
            <a:r>
              <a:rPr lang="en-US" sz="2400" dirty="0"/>
              <a:t>Identify the optimal arrangement of keys that gives the minimum expected search cost.</a:t>
            </a:r>
          </a:p>
          <a:p>
            <a:pPr marL="342900" indent="-342900">
              <a:lnSpc>
                <a:spcPct val="150000"/>
              </a:lnSpc>
              <a:buFont typeface="Arial" panose="020B0604020202020204" pitchFamily="34" charset="0"/>
              <a:buChar char="•"/>
            </a:pPr>
            <a:r>
              <a:rPr lang="en-US" sz="2400" dirty="0"/>
              <a:t>Display the resulting Optimal BST clearly.</a:t>
            </a:r>
          </a:p>
          <a:p>
            <a:pPr marL="342900" indent="-342900">
              <a:lnSpc>
                <a:spcPct val="150000"/>
              </a:lnSpc>
              <a:buFont typeface="Arial" panose="020B0604020202020204" pitchFamily="34" charset="0"/>
              <a:buChar char="•"/>
            </a:pPr>
            <a:r>
              <a:rPr lang="en-US" sz="2400" dirty="0"/>
              <a:t>Calculate and display the minimum expected search cost.</a:t>
            </a:r>
          </a:p>
          <a:p>
            <a:pPr marL="342900" indent="-342900">
              <a:lnSpc>
                <a:spcPct val="150000"/>
              </a:lnSpc>
              <a:buFont typeface="Arial" panose="020B0604020202020204" pitchFamily="34" charset="0"/>
              <a:buChar char="•"/>
            </a:pPr>
            <a:r>
              <a:rPr lang="en-US" sz="2400" dirty="0"/>
              <a:t>Demonstrate the use of Dynamic Programming for search-cost optimization.</a:t>
            </a:r>
          </a:p>
          <a:p>
            <a:pPr marL="342900" indent="-342900">
              <a:lnSpc>
                <a:spcPct val="150000"/>
              </a:lnSpc>
              <a:buFont typeface="Arial" panose="020B0604020202020204" pitchFamily="34" charset="0"/>
              <a:buChar char="•"/>
            </a:pPr>
            <a:r>
              <a:rPr lang="en-US" sz="2400" dirty="0"/>
              <a:t>Show how Binary Search Trees and Dynamic Programming can be combined to improve search efficiency based on key access frequencies.</a:t>
            </a:r>
            <a:endParaRPr lang="en-IN" sz="2400" dirty="0"/>
          </a:p>
        </p:txBody>
      </p:sp>
    </p:spTree>
    <p:extLst>
      <p:ext uri="{BB962C8B-B14F-4D97-AF65-F5344CB8AC3E}">
        <p14:creationId xmlns:p14="http://schemas.microsoft.com/office/powerpoint/2010/main" val="3949831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8369</TotalTime>
  <Words>464</Words>
  <Application>Microsoft Office PowerPoint</Application>
  <PresentationFormat>Widescreen</PresentationFormat>
  <Paragraphs>50</Paragraphs>
  <Slides>7</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7</vt:i4>
      </vt:variant>
    </vt:vector>
  </HeadingPairs>
  <TitlesOfParts>
    <vt:vector size="14" baseType="lpstr">
      <vt:lpstr>Arial</vt:lpstr>
      <vt:lpstr>Calibri</vt:lpstr>
      <vt:lpstr>Calibri Light</vt:lpstr>
      <vt:lpstr>Cambria</vt:lpstr>
      <vt:lpstr>Times New Roman</vt:lpstr>
      <vt:lpstr>Office Theme</vt:lpstr>
      <vt:lpstr>Custom Design</vt:lpstr>
      <vt:lpstr>   Tree Diameter Computation &amp; Visualization System Tree Diameter Computation &amp; VisTreeualizatr Computation &amp; Visualization System Tree Diameter Computation &amp; Visualization System   </vt:lpstr>
      <vt:lpstr>Abstract</vt:lpstr>
      <vt:lpstr>Problem Statement</vt:lpstr>
      <vt:lpstr>Proposed Functionalities</vt:lpstr>
      <vt:lpstr>Tools and Technologies to be Used</vt:lpstr>
      <vt:lpstr>Expected Outcome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GURRAPU NIKSHITHA .</cp:lastModifiedBy>
  <cp:revision>103</cp:revision>
  <dcterms:created xsi:type="dcterms:W3CDTF">2022-05-20T10:20:31Z</dcterms:created>
  <dcterms:modified xsi:type="dcterms:W3CDTF">2026-09-18T05:07:56Z</dcterms:modified>
</cp:coreProperties>
</file>