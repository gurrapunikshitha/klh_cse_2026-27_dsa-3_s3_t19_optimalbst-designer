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an Optimal Binary Search Tree designer built with interval dynamic programming. It is a web application: you enter keys and how often each is searched, and it builds the BST with the lowest expected search cost. The tree on the right is the real output of our app for the example we will use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sentence: we take sorted keys with search frequencies and build the BST with the minimum expected search cost using interval DP. The four columns are the building blocks: the W, C and R tables, the diagonal fill order, rebuilding the tree from R, and the React interface. The bottom row is the full pipeline, from the input form to the visualizations.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BST is shaped by insertion order or by balance, never by how often keys are searched, so a popular key can end up deep in the tree. Checking every possible shape is hopeless, because the number of shapes grows as the Catalan numbers. But the subproblems are key ranges that repeat, which is exactly what dynamic programming exploits.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eight things the app does. The input form and validation make sure the DP engine always gets clean, sorted data. The engine runs in our Spring Boot backend, and everything on the bottom row is how the frontend makes the result understandable: the tree, the expected cost, a search animation, and a cost breakdown with tooltips.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is a BST plus interval DP stored in three 2D tables, and recursion to rebuild the tree. The backend is Java 17 with Spring Boot and Maven, tested with JUnit; the frontend is React with Vite and draws the tree in SVG. The recurrence at the bottom right is the one from our course: try every root k, add the two subtree costs, then add the weight of the range.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eight objectives are what we set out to build and test. The first four are the algorithm itself: the frequencies-only OBST, the diagonal fill order, the three tables and the tree construction. The last four cover the expected cost, input validation, the visual interface and the course-format DP table we use for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happens after pressing Generate. The input is validated twice, sorted if needed, then the backend fills W, then C and R diagonal by diagonal, rebuilds the tree from R and computes the expected cost. On the right is the search simulation: it starts at the root, goes left or right at each comparison, and highlights the path while counting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running example. The DP gives a minimum cost of 26 for a total frequency of 15, so on average a search takes 26 / 15 = 1.7333 comparisons. The root is key 30, the most searched key; 10 and 40 sit on level 2 and the rarely searched 20 on level 3. A balanced tree rooted at 20 would cost 31, about 19 percent more, because it ignores the frequencies.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of our running app for the example input. On the left is the input form with the four keys and frequencies; next to it the Result card shows the expected search cost 1.7333, which is 26 / 15. Below is the optimal tree, where node size and colour show how often each key is searched.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DP table is shown in the same staircase format as our course, and clicking cell (0,4) shows its full working: k = 3 gives the minimum, so the cost is 11 + 15 = 26. The search simulation for key 20 follows 30, 10, 20 and needs 3 comparisons. The cost breakdown adds frequency times depth for every key and confirms the total of 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interval DP solves every key range once, from shortest to longest, which gives the provably optimal tree in cubic time, and our app shows each of those steps. For the future we would add unsuccessful searches with q values, Knuth's optimization to bring the time down to O(n squared), an animation of the table filling, comparison with AVL trees and PDF export.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 are happy to take questions, and we can show the live application if there is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6675120" cy="1828800"/>
          </a:xfrm>
          <a:prstGeom prst="rect">
            <a:avLst/>
          </a:prstGeom>
          <a:noFill/>
        </p:spPr>
        <p:txBody>
          <a:bodyPr wrap="square" lIns="0" rIns="0" tIns="0" bIns="0" anchor="t">
            <a:spAutoFit/>
          </a:bodyPr>
          <a:lstStyle/>
          <a:p>
            <a:pPr algn="l">
              <a:lnSpc>
                <a:spcPct val="95000"/>
              </a:lnSpc>
            </a:pPr>
            <a:r>
              <a:rPr sz="4000">
                <a:solidFill>
                  <a:srgbClr val="0F1E26"/>
                </a:solidFill>
                <a:latin typeface="Segoe UI Light"/>
              </a:rPr>
              <a:t>Optimal Binary Search Tree Using Dynamic Programming</a:t>
            </a:r>
          </a:p>
        </p:txBody>
      </p:sp>
      <p:sp>
        <p:nvSpPr>
          <p:cNvPr id="3" name="TextBox 2"/>
          <p:cNvSpPr txBox="1"/>
          <p:nvPr/>
        </p:nvSpPr>
        <p:spPr>
          <a:xfrm>
            <a:off x="612648" y="2377440"/>
            <a:ext cx="6492240" cy="822960"/>
          </a:xfrm>
          <a:prstGeom prst="rect">
            <a:avLst/>
          </a:prstGeom>
          <a:noFill/>
        </p:spPr>
        <p:txBody>
          <a:bodyPr wrap="square" lIns="0" rIns="0" tIns="0" bIns="0" anchor="t">
            <a:spAutoFit/>
          </a:bodyPr>
          <a:lstStyle/>
          <a:p>
            <a:pPr algn="l"/>
            <a:r>
              <a:rPr sz="1700">
                <a:solidFill>
                  <a:srgbClr val="2A3A43"/>
                </a:solidFill>
                <a:latin typeface="Segoe UI"/>
              </a:rPr>
              <a:t>An interactive web application that uses interval dynamic programming to build the BST with the minimum expected search cost.</a:t>
            </a:r>
          </a:p>
        </p:txBody>
      </p:sp>
      <p:sp>
        <p:nvSpPr>
          <p:cNvPr id="4" name="Rectangle 3"/>
          <p:cNvSpPr/>
          <p:nvPr/>
        </p:nvSpPr>
        <p:spPr>
          <a:xfrm>
            <a:off x="612648" y="3383280"/>
            <a:ext cx="2194560" cy="10972"/>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3611880"/>
            <a:ext cx="5486400" cy="201168"/>
          </a:xfrm>
          <a:prstGeom prst="rect">
            <a:avLst/>
          </a:prstGeom>
          <a:noFill/>
        </p:spPr>
        <p:txBody>
          <a:bodyPr wrap="square" lIns="0" rIns="0" tIns="0" bIns="0" anchor="t">
            <a:spAutoFit/>
          </a:bodyPr>
          <a:lstStyle/>
          <a:p>
            <a:pPr algn="l"/>
            <a:r>
              <a:rPr sz="1050" spc="150">
                <a:solidFill>
                  <a:srgbClr val="55656E"/>
                </a:solidFill>
                <a:latin typeface="Segoe UI Semibold"/>
              </a:rPr>
              <a:t>PROJECT TEAM</a:t>
            </a:r>
          </a:p>
        </p:txBody>
      </p:sp>
      <p:sp>
        <p:nvSpPr>
          <p:cNvPr id="6" name="TextBox 5"/>
          <p:cNvSpPr txBox="1"/>
          <p:nvPr/>
        </p:nvSpPr>
        <p:spPr>
          <a:xfrm>
            <a:off x="612648" y="3959352"/>
            <a:ext cx="6400800" cy="1097280"/>
          </a:xfrm>
          <a:prstGeom prst="rect">
            <a:avLst/>
          </a:prstGeom>
          <a:noFill/>
        </p:spPr>
        <p:txBody>
          <a:bodyPr wrap="square" lIns="0" rIns="0" tIns="0" bIns="0" anchor="t">
            <a:spAutoFit/>
          </a:bodyPr>
          <a:lstStyle/>
          <a:p>
            <a:pPr algn="l" marL="274320" indent="-274320">
              <a:spcAft>
                <a:spcPts val="400"/>
              </a:spcAft>
              <a:buFont typeface="Arial"/>
              <a:buChar char="•"/>
            </a:pPr>
            <a:r>
              <a:rPr sz="1400">
                <a:solidFill>
                  <a:srgbClr val="2A3A43"/>
                </a:solidFill>
                <a:latin typeface="Segoe UI Semibold"/>
              </a:rPr>
              <a:t>2520030512</a:t>
            </a:r>
            <a:r>
              <a:rPr sz="1400">
                <a:solidFill>
                  <a:srgbClr val="2A3A43"/>
                </a:solidFill>
                <a:latin typeface="Segoe UI"/>
              </a:rPr>
              <a:t> — NIKSHITHA</a:t>
            </a:r>
          </a:p>
          <a:p>
            <a:pPr algn="l" marL="274320" indent="-274320">
              <a:spcAft>
                <a:spcPts val="400"/>
              </a:spcAft>
              <a:buFont typeface="Arial"/>
              <a:buChar char="•"/>
            </a:pPr>
            <a:r>
              <a:rPr sz="1400">
                <a:solidFill>
                  <a:srgbClr val="2A3A43"/>
                </a:solidFill>
                <a:latin typeface="Segoe UI Semibold"/>
              </a:rPr>
              <a:t>2520030335</a:t>
            </a:r>
            <a:r>
              <a:rPr sz="1400">
                <a:solidFill>
                  <a:srgbClr val="2A3A43"/>
                </a:solidFill>
                <a:latin typeface="Segoe UI"/>
              </a:rPr>
              <a:t> — MANASVI NILESH GHAG</a:t>
            </a:r>
          </a:p>
          <a:p>
            <a:pPr algn="l" marL="274320" indent="-274320">
              <a:spcAft>
                <a:spcPts val="400"/>
              </a:spcAft>
              <a:buFont typeface="Arial"/>
              <a:buChar char="•"/>
            </a:pPr>
            <a:r>
              <a:rPr sz="1400">
                <a:solidFill>
                  <a:srgbClr val="2A3A43"/>
                </a:solidFill>
                <a:latin typeface="Segoe UI Semibold"/>
              </a:rPr>
              <a:t>2520030046</a:t>
            </a:r>
            <a:r>
              <a:rPr sz="1400">
                <a:solidFill>
                  <a:srgbClr val="2A3A43"/>
                </a:solidFill>
                <a:latin typeface="Segoe UI"/>
              </a:rPr>
              <a:t> — SAI PAVANI</a:t>
            </a:r>
          </a:p>
        </p:txBody>
      </p:sp>
      <p:sp>
        <p:nvSpPr>
          <p:cNvPr id="7" name="Image panel"/>
          <p:cNvSpPr/>
          <p:nvPr/>
        </p:nvSpPr>
        <p:spPr>
          <a:xfrm>
            <a:off x="7717536" y="0"/>
            <a:ext cx="447415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ee_crop.png"/>
          <p:cNvPicPr>
            <a:picLocks noChangeAspect="1"/>
          </p:cNvPicPr>
          <p:nvPr/>
        </p:nvPicPr>
        <p:blipFill>
          <a:blip r:embed="rId2"/>
          <a:stretch>
            <a:fillRect/>
          </a:stretch>
        </p:blipFill>
        <p:spPr>
          <a:xfrm>
            <a:off x="8083296" y="1977540"/>
            <a:ext cx="3739896" cy="2537159"/>
          </a:xfrm>
          <a:prstGeom prst="rect">
            <a:avLst/>
          </a:prstGeom>
        </p:spPr>
      </p:pic>
      <p:sp>
        <p:nvSpPr>
          <p:cNvPr id="9" name="TextBox 8"/>
          <p:cNvSpPr txBox="1"/>
          <p:nvPr/>
        </p:nvSpPr>
        <p:spPr>
          <a:xfrm>
            <a:off x="8083296" y="5806440"/>
            <a:ext cx="3739896" cy="201168"/>
          </a:xfrm>
          <a:prstGeom prst="rect">
            <a:avLst/>
          </a:prstGeom>
          <a:noFill/>
        </p:spPr>
        <p:txBody>
          <a:bodyPr wrap="square" lIns="0" rIns="0" tIns="0" bIns="0" anchor="t">
            <a:spAutoFit/>
          </a:bodyPr>
          <a:lstStyle/>
          <a:p>
            <a:pPr algn="l"/>
            <a:r>
              <a:rPr sz="1050" spc="150">
                <a:solidFill>
                  <a:srgbClr val="55656E"/>
                </a:solidFill>
                <a:latin typeface="Segoe UI Semibold"/>
              </a:rPr>
              <a:t>OPTIMAL TREE · KEYS 10, 20, 30,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EXECUTIVE OVERVIEW</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Abstract</a:t>
            </a:r>
          </a:p>
        </p:txBody>
      </p:sp>
      <p:sp>
        <p:nvSpPr>
          <p:cNvPr id="4" name="TextBox 3"/>
          <p:cNvSpPr txBox="1"/>
          <p:nvPr/>
        </p:nvSpPr>
        <p:spPr>
          <a:xfrm>
            <a:off x="612648" y="1536192"/>
            <a:ext cx="10972800" cy="365760"/>
          </a:xfrm>
          <a:prstGeom prst="rect">
            <a:avLst/>
          </a:prstGeom>
          <a:noFill/>
        </p:spPr>
        <p:txBody>
          <a:bodyPr wrap="square" lIns="0" rIns="0" tIns="0" bIns="0" anchor="t">
            <a:spAutoFit/>
          </a:bodyPr>
          <a:lstStyle/>
          <a:p>
            <a:pPr algn="l"/>
            <a:r>
              <a:rPr sz="1600">
                <a:solidFill>
                  <a:srgbClr val="55656E"/>
                </a:solidFill>
                <a:latin typeface="Segoe UI"/>
              </a:rPr>
              <a:t>Given sorted keys and their search frequencies, our application uses interval dynamic programming to build the binary search tree with the minimum expected search cost, and shows every step of the computation in an interactive web interface.</a:t>
            </a:r>
          </a:p>
        </p:txBody>
      </p:sp>
      <p:sp>
        <p:nvSpPr>
          <p:cNvPr id="5" name="TextBox 4"/>
          <p:cNvSpPr txBox="1"/>
          <p:nvPr/>
        </p:nvSpPr>
        <p:spPr>
          <a:xfrm>
            <a:off x="612648" y="2606040"/>
            <a:ext cx="2514600" cy="201168"/>
          </a:xfrm>
          <a:prstGeom prst="rect">
            <a:avLst/>
          </a:prstGeom>
          <a:noFill/>
        </p:spPr>
        <p:txBody>
          <a:bodyPr wrap="square" lIns="0" rIns="0" tIns="0" bIns="0" anchor="t">
            <a:spAutoFit/>
          </a:bodyPr>
          <a:lstStyle/>
          <a:p>
            <a:pPr algn="l"/>
            <a:r>
              <a:rPr sz="1050" spc="150">
                <a:solidFill>
                  <a:srgbClr val="55656E"/>
                </a:solidFill>
                <a:latin typeface="Segoe UI Semibold"/>
              </a:rPr>
              <a:t>DP TABLES</a:t>
            </a:r>
          </a:p>
        </p:txBody>
      </p:sp>
      <p:sp>
        <p:nvSpPr>
          <p:cNvPr id="6" name="TextBox 5"/>
          <p:cNvSpPr txBox="1"/>
          <p:nvPr/>
        </p:nvSpPr>
        <p:spPr>
          <a:xfrm>
            <a:off x="612648" y="2880360"/>
            <a:ext cx="2468880" cy="274320"/>
          </a:xfrm>
          <a:prstGeom prst="rect">
            <a:avLst/>
          </a:prstGeom>
          <a:noFill/>
        </p:spPr>
        <p:txBody>
          <a:bodyPr wrap="square" lIns="0" rIns="0" tIns="0" bIns="0" anchor="t">
            <a:spAutoFit/>
          </a:bodyPr>
          <a:lstStyle/>
          <a:p>
            <a:pPr algn="l"/>
            <a:r>
              <a:rPr sz="1500">
                <a:solidFill>
                  <a:srgbClr val="0F1E26"/>
                </a:solidFill>
                <a:latin typeface="Segoe UI Semibold"/>
              </a:rPr>
              <a:t>W, C and R Tables</a:t>
            </a:r>
          </a:p>
        </p:txBody>
      </p:sp>
      <p:sp>
        <p:nvSpPr>
          <p:cNvPr id="7" name="TextBox 6"/>
          <p:cNvSpPr txBox="1"/>
          <p:nvPr/>
        </p:nvSpPr>
        <p:spPr>
          <a:xfrm>
            <a:off x="612648" y="3227832"/>
            <a:ext cx="2468880" cy="914400"/>
          </a:xfrm>
          <a:prstGeom prst="rect">
            <a:avLst/>
          </a:prstGeom>
          <a:noFill/>
        </p:spPr>
        <p:txBody>
          <a:bodyPr wrap="square" lIns="0" rIns="0" tIns="0" bIns="0" anchor="t">
            <a:spAutoFit/>
          </a:bodyPr>
          <a:lstStyle/>
          <a:p>
            <a:pPr algn="l"/>
            <a:r>
              <a:rPr sz="1200">
                <a:solidFill>
                  <a:srgbClr val="55656E"/>
                </a:solidFill>
                <a:latin typeface="Segoe UI"/>
              </a:rPr>
              <a:t>W holds range weights, C the minimum costs and R the chosen root for every key range (i, j).</a:t>
            </a:r>
          </a:p>
        </p:txBody>
      </p:sp>
      <p:sp>
        <p:nvSpPr>
          <p:cNvPr id="8" name="TextBox 7"/>
          <p:cNvSpPr txBox="1"/>
          <p:nvPr/>
        </p:nvSpPr>
        <p:spPr>
          <a:xfrm>
            <a:off x="3355848" y="2606040"/>
            <a:ext cx="2514600" cy="201168"/>
          </a:xfrm>
          <a:prstGeom prst="rect">
            <a:avLst/>
          </a:prstGeom>
          <a:noFill/>
        </p:spPr>
        <p:txBody>
          <a:bodyPr wrap="square" lIns="0" rIns="0" tIns="0" bIns="0" anchor="t">
            <a:spAutoFit/>
          </a:bodyPr>
          <a:lstStyle/>
          <a:p>
            <a:pPr algn="l"/>
            <a:r>
              <a:rPr sz="1050" spc="150">
                <a:solidFill>
                  <a:srgbClr val="55656E"/>
                </a:solidFill>
                <a:latin typeface="Segoe UI Semibold"/>
              </a:rPr>
              <a:t>INTERVAL DP</a:t>
            </a:r>
          </a:p>
        </p:txBody>
      </p:sp>
      <p:sp>
        <p:nvSpPr>
          <p:cNvPr id="9" name="TextBox 8"/>
          <p:cNvSpPr txBox="1"/>
          <p:nvPr/>
        </p:nvSpPr>
        <p:spPr>
          <a:xfrm>
            <a:off x="3355848" y="2880360"/>
            <a:ext cx="2468880" cy="274320"/>
          </a:xfrm>
          <a:prstGeom prst="rect">
            <a:avLst/>
          </a:prstGeom>
          <a:noFill/>
        </p:spPr>
        <p:txBody>
          <a:bodyPr wrap="square" lIns="0" rIns="0" tIns="0" bIns="0" anchor="t">
            <a:spAutoFit/>
          </a:bodyPr>
          <a:lstStyle/>
          <a:p>
            <a:pPr algn="l"/>
            <a:r>
              <a:rPr sz="1500">
                <a:solidFill>
                  <a:srgbClr val="0F1E26"/>
                </a:solidFill>
                <a:latin typeface="Segoe UI Semibold"/>
              </a:rPr>
              <a:t>Shortest Ranges First</a:t>
            </a:r>
          </a:p>
        </p:txBody>
      </p:sp>
      <p:sp>
        <p:nvSpPr>
          <p:cNvPr id="10" name="TextBox 9"/>
          <p:cNvSpPr txBox="1"/>
          <p:nvPr/>
        </p:nvSpPr>
        <p:spPr>
          <a:xfrm>
            <a:off x="3355848" y="3227832"/>
            <a:ext cx="2468880" cy="914400"/>
          </a:xfrm>
          <a:prstGeom prst="rect">
            <a:avLst/>
          </a:prstGeom>
          <a:noFill/>
        </p:spPr>
        <p:txBody>
          <a:bodyPr wrap="square" lIns="0" rIns="0" tIns="0" bIns="0" anchor="t">
            <a:spAutoFit/>
          </a:bodyPr>
          <a:lstStyle/>
          <a:p>
            <a:pPr algn="l"/>
            <a:r>
              <a:rPr sz="1200">
                <a:solidFill>
                  <a:srgbClr val="55656E"/>
                </a:solidFill>
                <a:latin typeface="Segoe UI"/>
              </a:rPr>
              <a:t>Tables are filled by diagonal j − i = 0, 1, …, n, so every smaller range is solved before it is needed.</a:t>
            </a:r>
          </a:p>
        </p:txBody>
      </p:sp>
      <p:sp>
        <p:nvSpPr>
          <p:cNvPr id="11" name="Rectangle 10"/>
          <p:cNvSpPr/>
          <p:nvPr/>
        </p:nvSpPr>
        <p:spPr>
          <a:xfrm>
            <a:off x="3172968" y="2606040"/>
            <a:ext cx="10972" cy="1371600"/>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8" y="2606040"/>
            <a:ext cx="2514600" cy="201168"/>
          </a:xfrm>
          <a:prstGeom prst="rect">
            <a:avLst/>
          </a:prstGeom>
          <a:noFill/>
        </p:spPr>
        <p:txBody>
          <a:bodyPr wrap="square" lIns="0" rIns="0" tIns="0" bIns="0" anchor="t">
            <a:spAutoFit/>
          </a:bodyPr>
          <a:lstStyle/>
          <a:p>
            <a:pPr algn="l"/>
            <a:r>
              <a:rPr sz="1050" spc="150">
                <a:solidFill>
                  <a:srgbClr val="55656E"/>
                </a:solidFill>
                <a:latin typeface="Segoe UI Semibold"/>
              </a:rPr>
              <a:t>TREE CONSTRUCTION</a:t>
            </a:r>
          </a:p>
        </p:txBody>
      </p:sp>
      <p:sp>
        <p:nvSpPr>
          <p:cNvPr id="13" name="TextBox 12"/>
          <p:cNvSpPr txBox="1"/>
          <p:nvPr/>
        </p:nvSpPr>
        <p:spPr>
          <a:xfrm>
            <a:off x="6099048" y="2880360"/>
            <a:ext cx="2468880" cy="274320"/>
          </a:xfrm>
          <a:prstGeom prst="rect">
            <a:avLst/>
          </a:prstGeom>
          <a:noFill/>
        </p:spPr>
        <p:txBody>
          <a:bodyPr wrap="square" lIns="0" rIns="0" tIns="0" bIns="0" anchor="t">
            <a:spAutoFit/>
          </a:bodyPr>
          <a:lstStyle/>
          <a:p>
            <a:pPr algn="l"/>
            <a:r>
              <a:rPr sz="1500">
                <a:solidFill>
                  <a:srgbClr val="0F1E26"/>
                </a:solidFill>
                <a:latin typeface="Segoe UI Semibold"/>
              </a:rPr>
              <a:t>Recursive Build from R</a:t>
            </a:r>
          </a:p>
        </p:txBody>
      </p:sp>
      <p:sp>
        <p:nvSpPr>
          <p:cNvPr id="14" name="TextBox 13"/>
          <p:cNvSpPr txBox="1"/>
          <p:nvPr/>
        </p:nvSpPr>
        <p:spPr>
          <a:xfrm>
            <a:off x="6099048" y="3227832"/>
            <a:ext cx="2468880" cy="914400"/>
          </a:xfrm>
          <a:prstGeom prst="rect">
            <a:avLst/>
          </a:prstGeom>
          <a:noFill/>
        </p:spPr>
        <p:txBody>
          <a:bodyPr wrap="square" lIns="0" rIns="0" tIns="0" bIns="0" anchor="t">
            <a:spAutoFit/>
          </a:bodyPr>
          <a:lstStyle/>
          <a:p>
            <a:pPr algn="l"/>
            <a:r>
              <a:rPr sz="1200">
                <a:solidFill>
                  <a:srgbClr val="55656E"/>
                </a:solidFill>
                <a:latin typeface="Segoe UI"/>
              </a:rPr>
              <a:t>R[0][n] gives the root; each subtree is rebuilt the same way from (i, k−1) and (k, j).</a:t>
            </a:r>
          </a:p>
        </p:txBody>
      </p:sp>
      <p:sp>
        <p:nvSpPr>
          <p:cNvPr id="15" name="Rectangle 14"/>
          <p:cNvSpPr/>
          <p:nvPr/>
        </p:nvSpPr>
        <p:spPr>
          <a:xfrm>
            <a:off x="5916168" y="2606040"/>
            <a:ext cx="10972" cy="1371600"/>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42248" y="2606040"/>
            <a:ext cx="2514600" cy="201168"/>
          </a:xfrm>
          <a:prstGeom prst="rect">
            <a:avLst/>
          </a:prstGeom>
          <a:noFill/>
        </p:spPr>
        <p:txBody>
          <a:bodyPr wrap="square" lIns="0" rIns="0" tIns="0" bIns="0" anchor="t">
            <a:spAutoFit/>
          </a:bodyPr>
          <a:lstStyle/>
          <a:p>
            <a:pPr algn="l"/>
            <a:r>
              <a:rPr sz="1050" spc="150">
                <a:solidFill>
                  <a:srgbClr val="55656E"/>
                </a:solidFill>
                <a:latin typeface="Segoe UI Semibold"/>
              </a:rPr>
              <a:t>USER INTERFACE</a:t>
            </a:r>
          </a:p>
        </p:txBody>
      </p:sp>
      <p:sp>
        <p:nvSpPr>
          <p:cNvPr id="17" name="TextBox 16"/>
          <p:cNvSpPr txBox="1"/>
          <p:nvPr/>
        </p:nvSpPr>
        <p:spPr>
          <a:xfrm>
            <a:off x="8842248" y="2880360"/>
            <a:ext cx="2468880" cy="274320"/>
          </a:xfrm>
          <a:prstGeom prst="rect">
            <a:avLst/>
          </a:prstGeom>
          <a:noFill/>
        </p:spPr>
        <p:txBody>
          <a:bodyPr wrap="square" lIns="0" rIns="0" tIns="0" bIns="0" anchor="t">
            <a:spAutoFit/>
          </a:bodyPr>
          <a:lstStyle/>
          <a:p>
            <a:pPr algn="l"/>
            <a:r>
              <a:rPr sz="1500">
                <a:solidFill>
                  <a:srgbClr val="0F1E26"/>
                </a:solidFill>
                <a:latin typeface="Segoe UI Semibold"/>
              </a:rPr>
              <a:t>Interactive React Web Client</a:t>
            </a:r>
          </a:p>
        </p:txBody>
      </p:sp>
      <p:sp>
        <p:nvSpPr>
          <p:cNvPr id="18" name="TextBox 17"/>
          <p:cNvSpPr txBox="1"/>
          <p:nvPr/>
        </p:nvSpPr>
        <p:spPr>
          <a:xfrm>
            <a:off x="8842248" y="3227832"/>
            <a:ext cx="2468880" cy="914400"/>
          </a:xfrm>
          <a:prstGeom prst="rect">
            <a:avLst/>
          </a:prstGeom>
          <a:noFill/>
        </p:spPr>
        <p:txBody>
          <a:bodyPr wrap="square" lIns="0" rIns="0" tIns="0" bIns="0" anchor="t">
            <a:spAutoFit/>
          </a:bodyPr>
          <a:lstStyle/>
          <a:p>
            <a:pPr algn="l"/>
            <a:r>
              <a:rPr sz="1200">
                <a:solidFill>
                  <a:srgbClr val="55656E"/>
                </a:solidFill>
                <a:latin typeface="Segoe UI"/>
              </a:rPr>
              <a:t>Enter keys, then explore the result, tree, DP table, search animation and cost breakdown.</a:t>
            </a:r>
          </a:p>
        </p:txBody>
      </p:sp>
      <p:sp>
        <p:nvSpPr>
          <p:cNvPr id="19" name="Rectangle 18"/>
          <p:cNvSpPr/>
          <p:nvPr/>
        </p:nvSpPr>
        <p:spPr>
          <a:xfrm>
            <a:off x="8659368" y="2606040"/>
            <a:ext cx="10972" cy="1371600"/>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4572000"/>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END-TO-END PIPELINE ARCHITECTURE</a:t>
            </a:r>
          </a:p>
        </p:txBody>
      </p:sp>
      <p:sp>
        <p:nvSpPr>
          <p:cNvPr id="21" name="TextBox 20"/>
          <p:cNvSpPr txBox="1"/>
          <p:nvPr/>
        </p:nvSpPr>
        <p:spPr>
          <a:xfrm>
            <a:off x="612648" y="4901184"/>
            <a:ext cx="822960" cy="228600"/>
          </a:xfrm>
          <a:prstGeom prst="rect">
            <a:avLst/>
          </a:prstGeom>
          <a:noFill/>
        </p:spPr>
        <p:txBody>
          <a:bodyPr wrap="square" lIns="0" rIns="0" tIns="0" bIns="0" anchor="t">
            <a:spAutoFit/>
          </a:bodyPr>
          <a:lstStyle/>
          <a:p>
            <a:pPr algn="l"/>
            <a:r>
              <a:rPr sz="1400">
                <a:solidFill>
                  <a:srgbClr val="1F5FBF"/>
                </a:solidFill>
                <a:latin typeface="Segoe UI Semibold"/>
              </a:rPr>
              <a:t>01</a:t>
            </a:r>
          </a:p>
        </p:txBody>
      </p:sp>
      <p:sp>
        <p:nvSpPr>
          <p:cNvPr id="22" name="Rectangle 21"/>
          <p:cNvSpPr/>
          <p:nvPr/>
        </p:nvSpPr>
        <p:spPr>
          <a:xfrm>
            <a:off x="612648" y="5175504"/>
            <a:ext cx="1700784" cy="18288"/>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5285232"/>
            <a:ext cx="1700784" cy="274320"/>
          </a:xfrm>
          <a:prstGeom prst="rect">
            <a:avLst/>
          </a:prstGeom>
          <a:noFill/>
        </p:spPr>
        <p:txBody>
          <a:bodyPr wrap="square" lIns="0" rIns="0" tIns="0" bIns="0" anchor="t">
            <a:spAutoFit/>
          </a:bodyPr>
          <a:lstStyle/>
          <a:p>
            <a:pPr algn="l"/>
            <a:r>
              <a:rPr sz="1350">
                <a:solidFill>
                  <a:srgbClr val="0F1E26"/>
                </a:solidFill>
                <a:latin typeface="Segoe UI Semibold"/>
              </a:rPr>
              <a:t>Keys &amp; Frequencies</a:t>
            </a:r>
          </a:p>
        </p:txBody>
      </p:sp>
      <p:sp>
        <p:nvSpPr>
          <p:cNvPr id="24" name="TextBox 23"/>
          <p:cNvSpPr txBox="1"/>
          <p:nvPr/>
        </p:nvSpPr>
        <p:spPr>
          <a:xfrm>
            <a:off x="612648" y="5596128"/>
            <a:ext cx="1700784" cy="411480"/>
          </a:xfrm>
          <a:prstGeom prst="rect">
            <a:avLst/>
          </a:prstGeom>
          <a:noFill/>
        </p:spPr>
        <p:txBody>
          <a:bodyPr wrap="square" lIns="0" rIns="0" tIns="0" bIns="0" anchor="t">
            <a:spAutoFit/>
          </a:bodyPr>
          <a:lstStyle/>
          <a:p>
            <a:pPr algn="l"/>
            <a:r>
              <a:rPr sz="1150">
                <a:solidFill>
                  <a:srgbClr val="55656E"/>
                </a:solidFill>
                <a:latin typeface="Segoe UI"/>
              </a:rPr>
              <a:t>Up to 15 keys in the web form</a:t>
            </a:r>
          </a:p>
        </p:txBody>
      </p:sp>
      <p:sp>
        <p:nvSpPr>
          <p:cNvPr id="25" name="TextBox 24"/>
          <p:cNvSpPr txBox="1"/>
          <p:nvPr/>
        </p:nvSpPr>
        <p:spPr>
          <a:xfrm>
            <a:off x="2468879" y="4901184"/>
            <a:ext cx="822960" cy="228600"/>
          </a:xfrm>
          <a:prstGeom prst="rect">
            <a:avLst/>
          </a:prstGeom>
          <a:noFill/>
        </p:spPr>
        <p:txBody>
          <a:bodyPr wrap="square" lIns="0" rIns="0" tIns="0" bIns="0" anchor="t">
            <a:spAutoFit/>
          </a:bodyPr>
          <a:lstStyle/>
          <a:p>
            <a:pPr algn="l"/>
            <a:r>
              <a:rPr sz="1400">
                <a:solidFill>
                  <a:srgbClr val="1F5FBF"/>
                </a:solidFill>
                <a:latin typeface="Segoe UI Semibold"/>
              </a:rPr>
              <a:t>02</a:t>
            </a:r>
          </a:p>
        </p:txBody>
      </p:sp>
      <p:sp>
        <p:nvSpPr>
          <p:cNvPr id="26" name="Rectangle 25"/>
          <p:cNvSpPr/>
          <p:nvPr/>
        </p:nvSpPr>
        <p:spPr>
          <a:xfrm>
            <a:off x="2468879" y="5175504"/>
            <a:ext cx="1700784" cy="18288"/>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8879" y="5285232"/>
            <a:ext cx="1700784" cy="274320"/>
          </a:xfrm>
          <a:prstGeom prst="rect">
            <a:avLst/>
          </a:prstGeom>
          <a:noFill/>
        </p:spPr>
        <p:txBody>
          <a:bodyPr wrap="square" lIns="0" rIns="0" tIns="0" bIns="0" anchor="t">
            <a:spAutoFit/>
          </a:bodyPr>
          <a:lstStyle/>
          <a:p>
            <a:pPr algn="l"/>
            <a:r>
              <a:rPr sz="1350">
                <a:solidFill>
                  <a:srgbClr val="0F1E26"/>
                </a:solidFill>
                <a:latin typeface="Segoe UI Semibold"/>
              </a:rPr>
              <a:t>Input Validation</a:t>
            </a:r>
          </a:p>
        </p:txBody>
      </p:sp>
      <p:sp>
        <p:nvSpPr>
          <p:cNvPr id="28" name="TextBox 27"/>
          <p:cNvSpPr txBox="1"/>
          <p:nvPr/>
        </p:nvSpPr>
        <p:spPr>
          <a:xfrm>
            <a:off x="2468879" y="5596128"/>
            <a:ext cx="1700784" cy="411480"/>
          </a:xfrm>
          <a:prstGeom prst="rect">
            <a:avLst/>
          </a:prstGeom>
          <a:noFill/>
        </p:spPr>
        <p:txBody>
          <a:bodyPr wrap="square" lIns="0" rIns="0" tIns="0" bIns="0" anchor="t">
            <a:spAutoFit/>
          </a:bodyPr>
          <a:lstStyle/>
          <a:p>
            <a:pPr algn="l"/>
            <a:r>
              <a:rPr sz="1150">
                <a:solidFill>
                  <a:srgbClr val="55656E"/>
                </a:solidFill>
                <a:latin typeface="Segoe UI"/>
              </a:rPr>
              <a:t>Checked in browser and backend</a:t>
            </a:r>
          </a:p>
        </p:txBody>
      </p:sp>
      <p:sp>
        <p:nvSpPr>
          <p:cNvPr id="29" name="TextBox 28"/>
          <p:cNvSpPr txBox="1"/>
          <p:nvPr/>
        </p:nvSpPr>
        <p:spPr>
          <a:xfrm>
            <a:off x="4325112" y="4901184"/>
            <a:ext cx="822960" cy="228600"/>
          </a:xfrm>
          <a:prstGeom prst="rect">
            <a:avLst/>
          </a:prstGeom>
          <a:noFill/>
        </p:spPr>
        <p:txBody>
          <a:bodyPr wrap="square" lIns="0" rIns="0" tIns="0" bIns="0" anchor="t">
            <a:spAutoFit/>
          </a:bodyPr>
          <a:lstStyle/>
          <a:p>
            <a:pPr algn="l"/>
            <a:r>
              <a:rPr sz="1400">
                <a:solidFill>
                  <a:srgbClr val="1F5FBF"/>
                </a:solidFill>
                <a:latin typeface="Segoe UI Semibold"/>
              </a:rPr>
              <a:t>03</a:t>
            </a:r>
          </a:p>
        </p:txBody>
      </p:sp>
      <p:sp>
        <p:nvSpPr>
          <p:cNvPr id="30" name="Rectangle 29"/>
          <p:cNvSpPr/>
          <p:nvPr/>
        </p:nvSpPr>
        <p:spPr>
          <a:xfrm>
            <a:off x="4325112" y="5175504"/>
            <a:ext cx="1700784" cy="18288"/>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25112" y="5285232"/>
            <a:ext cx="1700784" cy="274320"/>
          </a:xfrm>
          <a:prstGeom prst="rect">
            <a:avLst/>
          </a:prstGeom>
          <a:noFill/>
        </p:spPr>
        <p:txBody>
          <a:bodyPr wrap="square" lIns="0" rIns="0" tIns="0" bIns="0" anchor="t">
            <a:spAutoFit/>
          </a:bodyPr>
          <a:lstStyle/>
          <a:p>
            <a:pPr algn="l"/>
            <a:r>
              <a:rPr sz="1350">
                <a:solidFill>
                  <a:srgbClr val="0F1E26"/>
                </a:solidFill>
                <a:latin typeface="Segoe UI Semibold"/>
              </a:rPr>
              <a:t>Interval DP (W, C, R)</a:t>
            </a:r>
          </a:p>
        </p:txBody>
      </p:sp>
      <p:sp>
        <p:nvSpPr>
          <p:cNvPr id="32" name="TextBox 31"/>
          <p:cNvSpPr txBox="1"/>
          <p:nvPr/>
        </p:nvSpPr>
        <p:spPr>
          <a:xfrm>
            <a:off x="4325112" y="5596128"/>
            <a:ext cx="1700784" cy="411480"/>
          </a:xfrm>
          <a:prstGeom prst="rect">
            <a:avLst/>
          </a:prstGeom>
          <a:noFill/>
        </p:spPr>
        <p:txBody>
          <a:bodyPr wrap="square" lIns="0" rIns="0" tIns="0" bIns="0" anchor="t">
            <a:spAutoFit/>
          </a:bodyPr>
          <a:lstStyle/>
          <a:p>
            <a:pPr algn="l"/>
            <a:r>
              <a:rPr sz="1150">
                <a:solidFill>
                  <a:srgbClr val="55656E"/>
                </a:solidFill>
                <a:latin typeface="Segoe UI"/>
              </a:rPr>
              <a:t>Filled diagonal by diagonal</a:t>
            </a:r>
          </a:p>
        </p:txBody>
      </p:sp>
      <p:sp>
        <p:nvSpPr>
          <p:cNvPr id="33" name="TextBox 32"/>
          <p:cNvSpPr txBox="1"/>
          <p:nvPr/>
        </p:nvSpPr>
        <p:spPr>
          <a:xfrm>
            <a:off x="6181344" y="4901184"/>
            <a:ext cx="822960" cy="228600"/>
          </a:xfrm>
          <a:prstGeom prst="rect">
            <a:avLst/>
          </a:prstGeom>
          <a:noFill/>
        </p:spPr>
        <p:txBody>
          <a:bodyPr wrap="square" lIns="0" rIns="0" tIns="0" bIns="0" anchor="t">
            <a:spAutoFit/>
          </a:bodyPr>
          <a:lstStyle/>
          <a:p>
            <a:pPr algn="l"/>
            <a:r>
              <a:rPr sz="1400">
                <a:solidFill>
                  <a:srgbClr val="1F5FBF"/>
                </a:solidFill>
                <a:latin typeface="Segoe UI Semibold"/>
              </a:rPr>
              <a:t>04</a:t>
            </a:r>
          </a:p>
        </p:txBody>
      </p:sp>
      <p:sp>
        <p:nvSpPr>
          <p:cNvPr id="34" name="Rectangle 33"/>
          <p:cNvSpPr/>
          <p:nvPr/>
        </p:nvSpPr>
        <p:spPr>
          <a:xfrm>
            <a:off x="6181344" y="5175504"/>
            <a:ext cx="1700784" cy="18288"/>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1344" y="5285232"/>
            <a:ext cx="1700784" cy="274320"/>
          </a:xfrm>
          <a:prstGeom prst="rect">
            <a:avLst/>
          </a:prstGeom>
          <a:noFill/>
        </p:spPr>
        <p:txBody>
          <a:bodyPr wrap="square" lIns="0" rIns="0" tIns="0" bIns="0" anchor="t">
            <a:spAutoFit/>
          </a:bodyPr>
          <a:lstStyle/>
          <a:p>
            <a:pPr algn="l"/>
            <a:r>
              <a:rPr sz="1350">
                <a:solidFill>
                  <a:srgbClr val="0F1E26"/>
                </a:solidFill>
                <a:latin typeface="Segoe UI Semibold"/>
              </a:rPr>
              <a:t>Root Table R</a:t>
            </a:r>
          </a:p>
        </p:txBody>
      </p:sp>
      <p:sp>
        <p:nvSpPr>
          <p:cNvPr id="36" name="TextBox 35"/>
          <p:cNvSpPr txBox="1"/>
          <p:nvPr/>
        </p:nvSpPr>
        <p:spPr>
          <a:xfrm>
            <a:off x="6181344" y="5596128"/>
            <a:ext cx="1700784" cy="411480"/>
          </a:xfrm>
          <a:prstGeom prst="rect">
            <a:avLst/>
          </a:prstGeom>
          <a:noFill/>
        </p:spPr>
        <p:txBody>
          <a:bodyPr wrap="square" lIns="0" rIns="0" tIns="0" bIns="0" anchor="t">
            <a:spAutoFit/>
          </a:bodyPr>
          <a:lstStyle/>
          <a:p>
            <a:pPr algn="l"/>
            <a:r>
              <a:rPr sz="1150">
                <a:solidFill>
                  <a:srgbClr val="55656E"/>
                </a:solidFill>
                <a:latin typeface="Segoe UI"/>
              </a:rPr>
              <a:t>Best root k for every range</a:t>
            </a:r>
          </a:p>
        </p:txBody>
      </p:sp>
      <p:sp>
        <p:nvSpPr>
          <p:cNvPr id="37" name="TextBox 36"/>
          <p:cNvSpPr txBox="1"/>
          <p:nvPr/>
        </p:nvSpPr>
        <p:spPr>
          <a:xfrm>
            <a:off x="8037575" y="4901184"/>
            <a:ext cx="822960" cy="228600"/>
          </a:xfrm>
          <a:prstGeom prst="rect">
            <a:avLst/>
          </a:prstGeom>
          <a:noFill/>
        </p:spPr>
        <p:txBody>
          <a:bodyPr wrap="square" lIns="0" rIns="0" tIns="0" bIns="0" anchor="t">
            <a:spAutoFit/>
          </a:bodyPr>
          <a:lstStyle/>
          <a:p>
            <a:pPr algn="l"/>
            <a:r>
              <a:rPr sz="1400">
                <a:solidFill>
                  <a:srgbClr val="1F5FBF"/>
                </a:solidFill>
                <a:latin typeface="Segoe UI Semibold"/>
              </a:rPr>
              <a:t>05</a:t>
            </a:r>
          </a:p>
        </p:txBody>
      </p:sp>
      <p:sp>
        <p:nvSpPr>
          <p:cNvPr id="38" name="Rectangle 37"/>
          <p:cNvSpPr/>
          <p:nvPr/>
        </p:nvSpPr>
        <p:spPr>
          <a:xfrm>
            <a:off x="8037575" y="5175504"/>
            <a:ext cx="1700784" cy="18288"/>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37575" y="5285232"/>
            <a:ext cx="1700784" cy="274320"/>
          </a:xfrm>
          <a:prstGeom prst="rect">
            <a:avLst/>
          </a:prstGeom>
          <a:noFill/>
        </p:spPr>
        <p:txBody>
          <a:bodyPr wrap="square" lIns="0" rIns="0" tIns="0" bIns="0" anchor="t">
            <a:spAutoFit/>
          </a:bodyPr>
          <a:lstStyle/>
          <a:p>
            <a:pPr algn="l"/>
            <a:r>
              <a:rPr sz="1350">
                <a:solidFill>
                  <a:srgbClr val="0F1E26"/>
                </a:solidFill>
                <a:latin typeface="Segoe UI Semibold"/>
              </a:rPr>
              <a:t>Build Optimal Tree</a:t>
            </a:r>
          </a:p>
        </p:txBody>
      </p:sp>
      <p:sp>
        <p:nvSpPr>
          <p:cNvPr id="40" name="TextBox 39"/>
          <p:cNvSpPr txBox="1"/>
          <p:nvPr/>
        </p:nvSpPr>
        <p:spPr>
          <a:xfrm>
            <a:off x="8037575" y="5596128"/>
            <a:ext cx="1700784" cy="411480"/>
          </a:xfrm>
          <a:prstGeom prst="rect">
            <a:avLst/>
          </a:prstGeom>
          <a:noFill/>
        </p:spPr>
        <p:txBody>
          <a:bodyPr wrap="square" lIns="0" rIns="0" tIns="0" bIns="0" anchor="t">
            <a:spAutoFit/>
          </a:bodyPr>
          <a:lstStyle/>
          <a:p>
            <a:pPr algn="l"/>
            <a:r>
              <a:rPr sz="1150">
                <a:solidFill>
                  <a:srgbClr val="55656E"/>
                </a:solidFill>
                <a:latin typeface="Segoe UI"/>
              </a:rPr>
              <a:t>Recursive build from R[0][n]</a:t>
            </a:r>
          </a:p>
        </p:txBody>
      </p:sp>
      <p:sp>
        <p:nvSpPr>
          <p:cNvPr id="41" name="TextBox 40"/>
          <p:cNvSpPr txBox="1"/>
          <p:nvPr/>
        </p:nvSpPr>
        <p:spPr>
          <a:xfrm>
            <a:off x="9893807" y="4901184"/>
            <a:ext cx="822960" cy="228600"/>
          </a:xfrm>
          <a:prstGeom prst="rect">
            <a:avLst/>
          </a:prstGeom>
          <a:noFill/>
        </p:spPr>
        <p:txBody>
          <a:bodyPr wrap="square" lIns="0" rIns="0" tIns="0" bIns="0" anchor="t">
            <a:spAutoFit/>
          </a:bodyPr>
          <a:lstStyle/>
          <a:p>
            <a:pPr algn="l"/>
            <a:r>
              <a:rPr sz="1400">
                <a:solidFill>
                  <a:srgbClr val="1F5FBF"/>
                </a:solidFill>
                <a:latin typeface="Segoe UI Semibold"/>
              </a:rPr>
              <a:t>06</a:t>
            </a:r>
          </a:p>
        </p:txBody>
      </p:sp>
      <p:sp>
        <p:nvSpPr>
          <p:cNvPr id="42" name="Rectangle 41"/>
          <p:cNvSpPr/>
          <p:nvPr/>
        </p:nvSpPr>
        <p:spPr>
          <a:xfrm>
            <a:off x="9893807" y="5175504"/>
            <a:ext cx="1700784" cy="18288"/>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93807" y="5285232"/>
            <a:ext cx="1700784" cy="274320"/>
          </a:xfrm>
          <a:prstGeom prst="rect">
            <a:avLst/>
          </a:prstGeom>
          <a:noFill/>
        </p:spPr>
        <p:txBody>
          <a:bodyPr wrap="square" lIns="0" rIns="0" tIns="0" bIns="0" anchor="t">
            <a:spAutoFit/>
          </a:bodyPr>
          <a:lstStyle/>
          <a:p>
            <a:pPr algn="l"/>
            <a:r>
              <a:rPr sz="1350">
                <a:solidFill>
                  <a:srgbClr val="0F1E26"/>
                </a:solidFill>
                <a:latin typeface="Segoe UI Semibold"/>
              </a:rPr>
              <a:t>Visualize &amp; Analyze</a:t>
            </a:r>
          </a:p>
        </p:txBody>
      </p:sp>
      <p:sp>
        <p:nvSpPr>
          <p:cNvPr id="44" name="TextBox 43"/>
          <p:cNvSpPr txBox="1"/>
          <p:nvPr/>
        </p:nvSpPr>
        <p:spPr>
          <a:xfrm>
            <a:off x="9893807" y="5596128"/>
            <a:ext cx="1700784" cy="411480"/>
          </a:xfrm>
          <a:prstGeom prst="rect">
            <a:avLst/>
          </a:prstGeom>
          <a:noFill/>
        </p:spPr>
        <p:txBody>
          <a:bodyPr wrap="square" lIns="0" rIns="0" tIns="0" bIns="0" anchor="t">
            <a:spAutoFit/>
          </a:bodyPr>
          <a:lstStyle/>
          <a:p>
            <a:pPr algn="l"/>
            <a:r>
              <a:rPr sz="1150">
                <a:solidFill>
                  <a:srgbClr val="55656E"/>
                </a:solidFill>
                <a:latin typeface="Segoe UI"/>
              </a:rPr>
              <a:t>Tree, DP table, search, cost</a:t>
            </a:r>
          </a:p>
        </p:txBody>
      </p:sp>
      <p:sp>
        <p:nvSpPr>
          <p:cNvPr id="45"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THE CHALLENGE</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Problem Statement</a:t>
            </a:r>
          </a:p>
        </p:txBody>
      </p:sp>
      <p:sp>
        <p:nvSpPr>
          <p:cNvPr id="4" name="TextBox 3"/>
          <p:cNvSpPr txBox="1"/>
          <p:nvPr/>
        </p:nvSpPr>
        <p:spPr>
          <a:xfrm>
            <a:off x="612648" y="1874519"/>
            <a:ext cx="6949440" cy="3291840"/>
          </a:xfrm>
          <a:prstGeom prst="rect">
            <a:avLst/>
          </a:prstGeom>
          <a:noFill/>
        </p:spPr>
        <p:txBody>
          <a:bodyPr wrap="square" lIns="0" rIns="0" tIns="0" bIns="0" anchor="t">
            <a:spAutoFit/>
          </a:bodyPr>
          <a:lstStyle/>
          <a:p>
            <a:pPr algn="l" marL="274320" indent="-274320">
              <a:spcAft>
                <a:spcPts val="1400"/>
              </a:spcAft>
              <a:buFont typeface="Arial"/>
              <a:buChar char="•"/>
            </a:pPr>
            <a:r>
              <a:rPr sz="1800">
                <a:solidFill>
                  <a:srgbClr val="2A3A43"/>
                </a:solidFill>
                <a:latin typeface="Segoe UI"/>
              </a:rPr>
              <a:t>An ordinary BST ignores how often each key is searched.</a:t>
            </a:r>
          </a:p>
          <a:p>
            <a:pPr algn="l" marL="274320" indent="-274320">
              <a:spcAft>
                <a:spcPts val="1400"/>
              </a:spcAft>
              <a:buFont typeface="Arial"/>
              <a:buChar char="•"/>
            </a:pPr>
            <a:r>
              <a:rPr sz="1800">
                <a:solidFill>
                  <a:srgbClr val="2A3A43"/>
                </a:solidFill>
                <a:latin typeface="Segoe UI"/>
              </a:rPr>
              <a:t>Frequent keys placed deep in the tree make the average search slow.</a:t>
            </a:r>
          </a:p>
          <a:p>
            <a:pPr algn="l" marL="274320" indent="-274320">
              <a:spcAft>
                <a:spcPts val="1400"/>
              </a:spcAft>
              <a:buFont typeface="Arial"/>
              <a:buChar char="•"/>
            </a:pPr>
            <a:r>
              <a:rPr sz="1800">
                <a:solidFill>
                  <a:srgbClr val="2A3A43"/>
                </a:solidFill>
                <a:latin typeface="Segoe UI"/>
              </a:rPr>
              <a:t>There are Catalan(n) possible trees (14 for 4 keys, 9,694,845 for 15), so trying them all is impractical.</a:t>
            </a:r>
          </a:p>
          <a:p>
            <a:pPr algn="l" marL="274320" indent="-274320">
              <a:spcAft>
                <a:spcPts val="1400"/>
              </a:spcAft>
              <a:buFont typeface="Arial"/>
              <a:buChar char="•"/>
            </a:pPr>
            <a:r>
              <a:rPr sz="1800">
                <a:solidFill>
                  <a:srgbClr val="2A3A43"/>
                </a:solidFill>
                <a:latin typeface="Segoe UI"/>
              </a:rPr>
              <a:t>The same key ranges repeat as subproblems under different roots.</a:t>
            </a:r>
          </a:p>
        </p:txBody>
      </p:sp>
      <p:sp>
        <p:nvSpPr>
          <p:cNvPr id="5" name="Design goal box"/>
          <p:cNvSpPr/>
          <p:nvPr/>
        </p:nvSpPr>
        <p:spPr>
          <a:xfrm>
            <a:off x="7936992" y="1874519"/>
            <a:ext cx="3657600" cy="2514600"/>
          </a:xfrm>
          <a:prstGeom prst="rect">
            <a:avLst/>
          </a:prstGeom>
          <a:solidFill>
            <a:srgbClr val="E3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11312" y="2103120"/>
            <a:ext cx="3200400" cy="201168"/>
          </a:xfrm>
          <a:prstGeom prst="rect">
            <a:avLst/>
          </a:prstGeom>
          <a:noFill/>
        </p:spPr>
        <p:txBody>
          <a:bodyPr wrap="square" lIns="0" rIns="0" tIns="0" bIns="0" anchor="t">
            <a:spAutoFit/>
          </a:bodyPr>
          <a:lstStyle/>
          <a:p>
            <a:pPr algn="l"/>
            <a:r>
              <a:rPr sz="1050" spc="150">
                <a:solidFill>
                  <a:srgbClr val="2A3A43"/>
                </a:solidFill>
                <a:latin typeface="Segoe UI Semibold"/>
              </a:rPr>
              <a:t>DESIGN GOAL</a:t>
            </a:r>
          </a:p>
        </p:txBody>
      </p:sp>
      <p:sp>
        <p:nvSpPr>
          <p:cNvPr id="7" name="TextBox 6"/>
          <p:cNvSpPr txBox="1"/>
          <p:nvPr/>
        </p:nvSpPr>
        <p:spPr>
          <a:xfrm>
            <a:off x="8211312" y="2423160"/>
            <a:ext cx="3154680" cy="1828800"/>
          </a:xfrm>
          <a:prstGeom prst="rect">
            <a:avLst/>
          </a:prstGeom>
          <a:noFill/>
        </p:spPr>
        <p:txBody>
          <a:bodyPr wrap="square" lIns="0" rIns="0" tIns="0" bIns="0" anchor="t">
            <a:spAutoFit/>
          </a:bodyPr>
          <a:lstStyle/>
          <a:p>
            <a:pPr algn="l"/>
            <a:r>
              <a:rPr sz="1700">
                <a:solidFill>
                  <a:srgbClr val="2A3A43"/>
                </a:solidFill>
                <a:latin typeface="Segoe UI Semibold"/>
              </a:rPr>
              <a:t>Build the BST with the minimum expected search cost using interval dynamic programming, and make the algorithm easy to understand through visualization.</a:t>
            </a:r>
          </a:p>
        </p:txBody>
      </p:sp>
      <p:sp>
        <p:nvSpPr>
          <p:cNvPr id="8"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SYSTEM CAPABILITIES</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Proposed Functionalities</a:t>
            </a:r>
          </a:p>
        </p:txBody>
      </p:sp>
      <p:sp>
        <p:nvSpPr>
          <p:cNvPr id="4" name="TextBox 3"/>
          <p:cNvSpPr txBox="1"/>
          <p:nvPr/>
        </p:nvSpPr>
        <p:spPr>
          <a:xfrm>
            <a:off x="612648" y="1536192"/>
            <a:ext cx="10972800" cy="365760"/>
          </a:xfrm>
          <a:prstGeom prst="rect">
            <a:avLst/>
          </a:prstGeom>
          <a:noFill/>
        </p:spPr>
        <p:txBody>
          <a:bodyPr wrap="square" lIns="0" rIns="0" tIns="0" bIns="0" anchor="t">
            <a:spAutoFit/>
          </a:bodyPr>
          <a:lstStyle/>
          <a:p>
            <a:pPr algn="l"/>
            <a:r>
              <a:rPr sz="1600">
                <a:solidFill>
                  <a:srgbClr val="55656E"/>
                </a:solidFill>
                <a:latin typeface="Segoe UI"/>
              </a:rPr>
              <a:t>Eight capabilities connecting user input, the interval DP engine and interactive visualization.</a:t>
            </a:r>
          </a:p>
        </p:txBody>
      </p:sp>
      <p:pic>
        <p:nvPicPr>
          <p:cNvPr id="5" name="Picture 4" descr="icon_input.png"/>
          <p:cNvPicPr>
            <a:picLocks noChangeAspect="1"/>
          </p:cNvPicPr>
          <p:nvPr/>
        </p:nvPicPr>
        <p:blipFill>
          <a:blip r:embed="rId2"/>
          <a:stretch>
            <a:fillRect/>
          </a:stretch>
        </p:blipFill>
        <p:spPr>
          <a:xfrm>
            <a:off x="612648" y="2103120"/>
            <a:ext cx="457200" cy="457200"/>
          </a:xfrm>
          <a:prstGeom prst="rect">
            <a:avLst/>
          </a:prstGeom>
        </p:spPr>
      </p:pic>
      <p:sp>
        <p:nvSpPr>
          <p:cNvPr id="6" name="TextBox 5"/>
          <p:cNvSpPr txBox="1"/>
          <p:nvPr/>
        </p:nvSpPr>
        <p:spPr>
          <a:xfrm>
            <a:off x="612648" y="2670048"/>
            <a:ext cx="2514600" cy="548640"/>
          </a:xfrm>
          <a:prstGeom prst="rect">
            <a:avLst/>
          </a:prstGeom>
          <a:noFill/>
        </p:spPr>
        <p:txBody>
          <a:bodyPr wrap="square" lIns="0" rIns="0" tIns="0" bIns="0" anchor="t">
            <a:spAutoFit/>
          </a:bodyPr>
          <a:lstStyle/>
          <a:p>
            <a:pPr algn="l"/>
            <a:r>
              <a:rPr sz="1450">
                <a:solidFill>
                  <a:srgbClr val="0F1E26"/>
                </a:solidFill>
                <a:latin typeface="Segoe UI Semibold"/>
              </a:rPr>
              <a:t>Key &amp; Frequency Input</a:t>
            </a:r>
          </a:p>
        </p:txBody>
      </p:sp>
      <p:sp>
        <p:nvSpPr>
          <p:cNvPr id="7" name="TextBox 6"/>
          <p:cNvSpPr txBox="1"/>
          <p:nvPr/>
        </p:nvSpPr>
        <p:spPr>
          <a:xfrm>
            <a:off x="612648" y="2999232"/>
            <a:ext cx="2468880" cy="822960"/>
          </a:xfrm>
          <a:prstGeom prst="rect">
            <a:avLst/>
          </a:prstGeom>
          <a:noFill/>
        </p:spPr>
        <p:txBody>
          <a:bodyPr wrap="square" lIns="0" rIns="0" tIns="0" bIns="0" anchor="t">
            <a:spAutoFit/>
          </a:bodyPr>
          <a:lstStyle/>
          <a:p>
            <a:pPr algn="l"/>
            <a:r>
              <a:rPr sz="1200">
                <a:solidFill>
                  <a:srgbClr val="55656E"/>
                </a:solidFill>
                <a:latin typeface="Segoe UI"/>
              </a:rPr>
              <a:t>Table form that starts with one empty row; add up to 15 key–frequency pairs.</a:t>
            </a:r>
          </a:p>
        </p:txBody>
      </p:sp>
      <p:pic>
        <p:nvPicPr>
          <p:cNvPr id="8" name="Picture 7" descr="icon_shield.png"/>
          <p:cNvPicPr>
            <a:picLocks noChangeAspect="1"/>
          </p:cNvPicPr>
          <p:nvPr/>
        </p:nvPicPr>
        <p:blipFill>
          <a:blip r:embed="rId3"/>
          <a:stretch>
            <a:fillRect/>
          </a:stretch>
        </p:blipFill>
        <p:spPr>
          <a:xfrm>
            <a:off x="3355848" y="2103120"/>
            <a:ext cx="457200" cy="457200"/>
          </a:xfrm>
          <a:prstGeom prst="rect">
            <a:avLst/>
          </a:prstGeom>
        </p:spPr>
      </p:pic>
      <p:sp>
        <p:nvSpPr>
          <p:cNvPr id="9" name="TextBox 8"/>
          <p:cNvSpPr txBox="1"/>
          <p:nvPr/>
        </p:nvSpPr>
        <p:spPr>
          <a:xfrm>
            <a:off x="3355848" y="2670048"/>
            <a:ext cx="2514600" cy="548640"/>
          </a:xfrm>
          <a:prstGeom prst="rect">
            <a:avLst/>
          </a:prstGeom>
          <a:noFill/>
        </p:spPr>
        <p:txBody>
          <a:bodyPr wrap="square" lIns="0" rIns="0" tIns="0" bIns="0" anchor="t">
            <a:spAutoFit/>
          </a:bodyPr>
          <a:lstStyle/>
          <a:p>
            <a:pPr algn="l"/>
            <a:r>
              <a:rPr sz="1450">
                <a:solidFill>
                  <a:srgbClr val="0F1E26"/>
                </a:solidFill>
                <a:latin typeface="Segoe UI Semibold"/>
              </a:rPr>
              <a:t>Input Validation</a:t>
            </a:r>
          </a:p>
        </p:txBody>
      </p:sp>
      <p:sp>
        <p:nvSpPr>
          <p:cNvPr id="10" name="TextBox 9"/>
          <p:cNvSpPr txBox="1"/>
          <p:nvPr/>
        </p:nvSpPr>
        <p:spPr>
          <a:xfrm>
            <a:off x="3355848" y="2999232"/>
            <a:ext cx="2468880" cy="822960"/>
          </a:xfrm>
          <a:prstGeom prst="rect">
            <a:avLst/>
          </a:prstGeom>
          <a:noFill/>
        </p:spPr>
        <p:txBody>
          <a:bodyPr wrap="square" lIns="0" rIns="0" tIns="0" bIns="0" anchor="t">
            <a:spAutoFit/>
          </a:bodyPr>
          <a:lstStyle/>
          <a:p>
            <a:pPr algn="l"/>
            <a:r>
              <a:rPr sz="1200">
                <a:solidFill>
                  <a:srgbClr val="55656E"/>
                </a:solidFill>
                <a:latin typeface="Segoe UI"/>
              </a:rPr>
              <a:t>Flags empty, non-integer or duplicate keys and non-positive frequencies; the backend re-checks.</a:t>
            </a:r>
          </a:p>
        </p:txBody>
      </p:sp>
      <p:pic>
        <p:nvPicPr>
          <p:cNvPr id="11" name="Picture 10" descr="icon_grid.png"/>
          <p:cNvPicPr>
            <a:picLocks noChangeAspect="1"/>
          </p:cNvPicPr>
          <p:nvPr/>
        </p:nvPicPr>
        <p:blipFill>
          <a:blip r:embed="rId4"/>
          <a:stretch>
            <a:fillRect/>
          </a:stretch>
        </p:blipFill>
        <p:spPr>
          <a:xfrm>
            <a:off x="6099048" y="2103120"/>
            <a:ext cx="457200" cy="457200"/>
          </a:xfrm>
          <a:prstGeom prst="rect">
            <a:avLst/>
          </a:prstGeom>
        </p:spPr>
      </p:pic>
      <p:sp>
        <p:nvSpPr>
          <p:cNvPr id="12" name="TextBox 11"/>
          <p:cNvSpPr txBox="1"/>
          <p:nvPr/>
        </p:nvSpPr>
        <p:spPr>
          <a:xfrm>
            <a:off x="6099048" y="2670048"/>
            <a:ext cx="2514600" cy="548640"/>
          </a:xfrm>
          <a:prstGeom prst="rect">
            <a:avLst/>
          </a:prstGeom>
          <a:noFill/>
        </p:spPr>
        <p:txBody>
          <a:bodyPr wrap="square" lIns="0" rIns="0" tIns="0" bIns="0" anchor="t">
            <a:spAutoFit/>
          </a:bodyPr>
          <a:lstStyle/>
          <a:p>
            <a:pPr algn="l"/>
            <a:r>
              <a:rPr sz="1450">
                <a:solidFill>
                  <a:srgbClr val="0F1E26"/>
                </a:solidFill>
                <a:latin typeface="Segoe UI Semibold"/>
              </a:rPr>
              <a:t>Interval DP Engine</a:t>
            </a:r>
          </a:p>
        </p:txBody>
      </p:sp>
      <p:sp>
        <p:nvSpPr>
          <p:cNvPr id="13" name="TextBox 12"/>
          <p:cNvSpPr txBox="1"/>
          <p:nvPr/>
        </p:nvSpPr>
        <p:spPr>
          <a:xfrm>
            <a:off x="6099048" y="2999232"/>
            <a:ext cx="2468880" cy="822960"/>
          </a:xfrm>
          <a:prstGeom prst="rect">
            <a:avLst/>
          </a:prstGeom>
          <a:noFill/>
        </p:spPr>
        <p:txBody>
          <a:bodyPr wrap="square" lIns="0" rIns="0" tIns="0" bIns="0" anchor="t">
            <a:spAutoFit/>
          </a:bodyPr>
          <a:lstStyle/>
          <a:p>
            <a:pPr algn="l"/>
            <a:r>
              <a:rPr sz="1200">
                <a:solidFill>
                  <a:srgbClr val="55656E"/>
                </a:solidFill>
                <a:latin typeface="Segoe UI"/>
              </a:rPr>
              <a:t>Spring Boot service computes W, C and R in O(n³), keeping the smallest k on ties.</a:t>
            </a:r>
          </a:p>
        </p:txBody>
      </p:sp>
      <p:pic>
        <p:nvPicPr>
          <p:cNvPr id="14" name="Picture 13" descr="icon_stairs.png"/>
          <p:cNvPicPr>
            <a:picLocks noChangeAspect="1"/>
          </p:cNvPicPr>
          <p:nvPr/>
        </p:nvPicPr>
        <p:blipFill>
          <a:blip r:embed="rId5"/>
          <a:stretch>
            <a:fillRect/>
          </a:stretch>
        </p:blipFill>
        <p:spPr>
          <a:xfrm>
            <a:off x="8842248" y="2103120"/>
            <a:ext cx="457200" cy="457200"/>
          </a:xfrm>
          <a:prstGeom prst="rect">
            <a:avLst/>
          </a:prstGeom>
        </p:spPr>
      </p:pic>
      <p:sp>
        <p:nvSpPr>
          <p:cNvPr id="15" name="TextBox 14"/>
          <p:cNvSpPr txBox="1"/>
          <p:nvPr/>
        </p:nvSpPr>
        <p:spPr>
          <a:xfrm>
            <a:off x="8842248" y="2670048"/>
            <a:ext cx="2514600" cy="548640"/>
          </a:xfrm>
          <a:prstGeom prst="rect">
            <a:avLst/>
          </a:prstGeom>
          <a:noFill/>
        </p:spPr>
        <p:txBody>
          <a:bodyPr wrap="square" lIns="0" rIns="0" tIns="0" bIns="0" anchor="t">
            <a:spAutoFit/>
          </a:bodyPr>
          <a:lstStyle/>
          <a:p>
            <a:pPr algn="l"/>
            <a:r>
              <a:rPr sz="1450">
                <a:solidFill>
                  <a:srgbClr val="0F1E26"/>
                </a:solidFill>
                <a:latin typeface="Segoe UI Semibold"/>
              </a:rPr>
              <a:t>Course-Format DP Table</a:t>
            </a:r>
          </a:p>
        </p:txBody>
      </p:sp>
      <p:sp>
        <p:nvSpPr>
          <p:cNvPr id="16" name="TextBox 15"/>
          <p:cNvSpPr txBox="1"/>
          <p:nvPr/>
        </p:nvSpPr>
        <p:spPr>
          <a:xfrm>
            <a:off x="8842248" y="2999232"/>
            <a:ext cx="2468880" cy="822960"/>
          </a:xfrm>
          <a:prstGeom prst="rect">
            <a:avLst/>
          </a:prstGeom>
          <a:noFill/>
        </p:spPr>
        <p:txBody>
          <a:bodyPr wrap="square" lIns="0" rIns="0" tIns="0" bIns="0" anchor="t">
            <a:spAutoFit/>
          </a:bodyPr>
          <a:lstStyle/>
          <a:p>
            <a:pPr algn="l"/>
            <a:r>
              <a:rPr sz="1200">
                <a:solidFill>
                  <a:srgbClr val="55656E"/>
                </a:solidFill>
                <a:latin typeface="Segoe UI"/>
              </a:rPr>
              <a:t>Staircase w / c / r table by diagonal; click any cell to see its working.</a:t>
            </a:r>
          </a:p>
        </p:txBody>
      </p:sp>
      <p:pic>
        <p:nvPicPr>
          <p:cNvPr id="17" name="Picture 16" descr="icon_tree.png"/>
          <p:cNvPicPr>
            <a:picLocks noChangeAspect="1"/>
          </p:cNvPicPr>
          <p:nvPr/>
        </p:nvPicPr>
        <p:blipFill>
          <a:blip r:embed="rId6"/>
          <a:stretch>
            <a:fillRect/>
          </a:stretch>
        </p:blipFill>
        <p:spPr>
          <a:xfrm>
            <a:off x="612648" y="4069079"/>
            <a:ext cx="457200" cy="457200"/>
          </a:xfrm>
          <a:prstGeom prst="rect">
            <a:avLst/>
          </a:prstGeom>
        </p:spPr>
      </p:pic>
      <p:sp>
        <p:nvSpPr>
          <p:cNvPr id="18" name="TextBox 17"/>
          <p:cNvSpPr txBox="1"/>
          <p:nvPr/>
        </p:nvSpPr>
        <p:spPr>
          <a:xfrm>
            <a:off x="612648" y="4636007"/>
            <a:ext cx="2514600" cy="548640"/>
          </a:xfrm>
          <a:prstGeom prst="rect">
            <a:avLst/>
          </a:prstGeom>
          <a:noFill/>
        </p:spPr>
        <p:txBody>
          <a:bodyPr wrap="square" lIns="0" rIns="0" tIns="0" bIns="0" anchor="t">
            <a:spAutoFit/>
          </a:bodyPr>
          <a:lstStyle/>
          <a:p>
            <a:pPr algn="l"/>
            <a:r>
              <a:rPr sz="1450">
                <a:solidFill>
                  <a:srgbClr val="0F1E26"/>
                </a:solidFill>
                <a:latin typeface="Segoe UI Semibold"/>
              </a:rPr>
              <a:t>Optimal Tree Visualization</a:t>
            </a:r>
          </a:p>
        </p:txBody>
      </p:sp>
      <p:sp>
        <p:nvSpPr>
          <p:cNvPr id="19" name="TextBox 18"/>
          <p:cNvSpPr txBox="1"/>
          <p:nvPr/>
        </p:nvSpPr>
        <p:spPr>
          <a:xfrm>
            <a:off x="612648" y="4965192"/>
            <a:ext cx="2468880" cy="822960"/>
          </a:xfrm>
          <a:prstGeom prst="rect">
            <a:avLst/>
          </a:prstGeom>
          <a:noFill/>
        </p:spPr>
        <p:txBody>
          <a:bodyPr wrap="square" lIns="0" rIns="0" tIns="0" bIns="0" anchor="t">
            <a:spAutoFit/>
          </a:bodyPr>
          <a:lstStyle/>
          <a:p>
            <a:pPr algn="l"/>
            <a:r>
              <a:rPr sz="1200">
                <a:solidFill>
                  <a:srgbClr val="55656E"/>
                </a:solidFill>
                <a:latin typeface="Segoe UI"/>
              </a:rPr>
              <a:t>SVG tree with depth guides; larger, darker nodes are searched more often.</a:t>
            </a:r>
          </a:p>
        </p:txBody>
      </p:sp>
      <p:pic>
        <p:nvPicPr>
          <p:cNvPr id="20" name="Picture 19" descr="icon_gauge.png"/>
          <p:cNvPicPr>
            <a:picLocks noChangeAspect="1"/>
          </p:cNvPicPr>
          <p:nvPr/>
        </p:nvPicPr>
        <p:blipFill>
          <a:blip r:embed="rId7"/>
          <a:stretch>
            <a:fillRect/>
          </a:stretch>
        </p:blipFill>
        <p:spPr>
          <a:xfrm>
            <a:off x="3355848" y="4069079"/>
            <a:ext cx="457200" cy="457200"/>
          </a:xfrm>
          <a:prstGeom prst="rect">
            <a:avLst/>
          </a:prstGeom>
        </p:spPr>
      </p:pic>
      <p:sp>
        <p:nvSpPr>
          <p:cNvPr id="21" name="TextBox 20"/>
          <p:cNvSpPr txBox="1"/>
          <p:nvPr/>
        </p:nvSpPr>
        <p:spPr>
          <a:xfrm>
            <a:off x="3355848" y="4636007"/>
            <a:ext cx="2514600" cy="548640"/>
          </a:xfrm>
          <a:prstGeom prst="rect">
            <a:avLst/>
          </a:prstGeom>
          <a:noFill/>
        </p:spPr>
        <p:txBody>
          <a:bodyPr wrap="square" lIns="0" rIns="0" tIns="0" bIns="0" anchor="t">
            <a:spAutoFit/>
          </a:bodyPr>
          <a:lstStyle/>
          <a:p>
            <a:pPr algn="l"/>
            <a:r>
              <a:rPr sz="1450">
                <a:solidFill>
                  <a:srgbClr val="0F1E26"/>
                </a:solidFill>
                <a:latin typeface="Segoe UI Semibold"/>
              </a:rPr>
              <a:t>Expected Cost Result</a:t>
            </a:r>
          </a:p>
        </p:txBody>
      </p:sp>
      <p:sp>
        <p:nvSpPr>
          <p:cNvPr id="22" name="TextBox 21"/>
          <p:cNvSpPr txBox="1"/>
          <p:nvPr/>
        </p:nvSpPr>
        <p:spPr>
          <a:xfrm>
            <a:off x="3355848" y="4965192"/>
            <a:ext cx="2468880" cy="822960"/>
          </a:xfrm>
          <a:prstGeom prst="rect">
            <a:avLst/>
          </a:prstGeom>
          <a:noFill/>
        </p:spPr>
        <p:txBody>
          <a:bodyPr wrap="square" lIns="0" rIns="0" tIns="0" bIns="0" anchor="t">
            <a:spAutoFit/>
          </a:bodyPr>
          <a:lstStyle/>
          <a:p>
            <a:pPr algn="l"/>
            <a:r>
              <a:rPr sz="1200">
                <a:solidFill>
                  <a:srgbClr val="55656E"/>
                </a:solidFill>
                <a:latin typeface="Segoe UI"/>
              </a:rPr>
              <a:t>Expected search cost to 4 decimals, with minimum cost and total frequency.</a:t>
            </a:r>
          </a:p>
        </p:txBody>
      </p:sp>
      <p:pic>
        <p:nvPicPr>
          <p:cNvPr id="23" name="Picture 22" descr="icon_search.png"/>
          <p:cNvPicPr>
            <a:picLocks noChangeAspect="1"/>
          </p:cNvPicPr>
          <p:nvPr/>
        </p:nvPicPr>
        <p:blipFill>
          <a:blip r:embed="rId8"/>
          <a:stretch>
            <a:fillRect/>
          </a:stretch>
        </p:blipFill>
        <p:spPr>
          <a:xfrm>
            <a:off x="6099048" y="4069079"/>
            <a:ext cx="457200" cy="457200"/>
          </a:xfrm>
          <a:prstGeom prst="rect">
            <a:avLst/>
          </a:prstGeom>
        </p:spPr>
      </p:pic>
      <p:sp>
        <p:nvSpPr>
          <p:cNvPr id="24" name="TextBox 23"/>
          <p:cNvSpPr txBox="1"/>
          <p:nvPr/>
        </p:nvSpPr>
        <p:spPr>
          <a:xfrm>
            <a:off x="6099048" y="4636007"/>
            <a:ext cx="2514600" cy="548640"/>
          </a:xfrm>
          <a:prstGeom prst="rect">
            <a:avLst/>
          </a:prstGeom>
          <a:noFill/>
        </p:spPr>
        <p:txBody>
          <a:bodyPr wrap="square" lIns="0" rIns="0" tIns="0" bIns="0" anchor="t">
            <a:spAutoFit/>
          </a:bodyPr>
          <a:lstStyle/>
          <a:p>
            <a:pPr algn="l"/>
            <a:r>
              <a:rPr sz="1450">
                <a:solidFill>
                  <a:srgbClr val="0F1E26"/>
                </a:solidFill>
                <a:latin typeface="Segoe UI Semibold"/>
              </a:rPr>
              <a:t>Search Simulation</a:t>
            </a:r>
          </a:p>
        </p:txBody>
      </p:sp>
      <p:sp>
        <p:nvSpPr>
          <p:cNvPr id="25" name="TextBox 24"/>
          <p:cNvSpPr txBox="1"/>
          <p:nvPr/>
        </p:nvSpPr>
        <p:spPr>
          <a:xfrm>
            <a:off x="6099048" y="4965192"/>
            <a:ext cx="2468880" cy="822960"/>
          </a:xfrm>
          <a:prstGeom prst="rect">
            <a:avLst/>
          </a:prstGeom>
          <a:noFill/>
        </p:spPr>
        <p:txBody>
          <a:bodyPr wrap="square" lIns="0" rIns="0" tIns="0" bIns="0" anchor="t">
            <a:spAutoFit/>
          </a:bodyPr>
          <a:lstStyle/>
          <a:p>
            <a:pPr algn="l"/>
            <a:r>
              <a:rPr sz="1200">
                <a:solidFill>
                  <a:srgbClr val="55656E"/>
                </a:solidFill>
                <a:latin typeface="Segoe UI"/>
              </a:rPr>
              <a:t>Animates the path from the root to a key and counts the comparisons.</a:t>
            </a:r>
          </a:p>
        </p:txBody>
      </p:sp>
      <p:pic>
        <p:nvPicPr>
          <p:cNvPr id="26" name="Picture 25" descr="icon_bubble.png"/>
          <p:cNvPicPr>
            <a:picLocks noChangeAspect="1"/>
          </p:cNvPicPr>
          <p:nvPr/>
        </p:nvPicPr>
        <p:blipFill>
          <a:blip r:embed="rId9"/>
          <a:stretch>
            <a:fillRect/>
          </a:stretch>
        </p:blipFill>
        <p:spPr>
          <a:xfrm>
            <a:off x="8842248" y="4069079"/>
            <a:ext cx="457200" cy="457200"/>
          </a:xfrm>
          <a:prstGeom prst="rect">
            <a:avLst/>
          </a:prstGeom>
        </p:spPr>
      </p:pic>
      <p:sp>
        <p:nvSpPr>
          <p:cNvPr id="27" name="TextBox 26"/>
          <p:cNvSpPr txBox="1"/>
          <p:nvPr/>
        </p:nvSpPr>
        <p:spPr>
          <a:xfrm>
            <a:off x="8842248" y="4636007"/>
            <a:ext cx="2514600" cy="548640"/>
          </a:xfrm>
          <a:prstGeom prst="rect">
            <a:avLst/>
          </a:prstGeom>
          <a:noFill/>
        </p:spPr>
        <p:txBody>
          <a:bodyPr wrap="square" lIns="0" rIns="0" tIns="0" bIns="0" anchor="t">
            <a:spAutoFit/>
          </a:bodyPr>
          <a:lstStyle/>
          <a:p>
            <a:pPr algn="l"/>
            <a:r>
              <a:rPr sz="1450">
                <a:solidFill>
                  <a:srgbClr val="0F1E26"/>
                </a:solidFill>
                <a:latin typeface="Segoe UI Semibold"/>
              </a:rPr>
              <a:t>Cost Breakdown &amp; Hover Tooltips</a:t>
            </a:r>
          </a:p>
        </p:txBody>
      </p:sp>
      <p:sp>
        <p:nvSpPr>
          <p:cNvPr id="28" name="TextBox 27"/>
          <p:cNvSpPr txBox="1"/>
          <p:nvPr/>
        </p:nvSpPr>
        <p:spPr>
          <a:xfrm>
            <a:off x="8842248" y="5257799"/>
            <a:ext cx="2468880" cy="822960"/>
          </a:xfrm>
          <a:prstGeom prst="rect">
            <a:avLst/>
          </a:prstGeom>
          <a:noFill/>
        </p:spPr>
        <p:txBody>
          <a:bodyPr wrap="square" lIns="0" rIns="0" tIns="0" bIns="0" anchor="t">
            <a:spAutoFit/>
          </a:bodyPr>
          <a:lstStyle/>
          <a:p>
            <a:pPr algn="l"/>
            <a:r>
              <a:rPr sz="1200">
                <a:solidFill>
                  <a:srgbClr val="55656E"/>
                </a:solidFill>
                <a:latin typeface="Segoe UI"/>
              </a:rPr>
              <a:t>Frequency × depth for every key, and details when hovering a node.</a:t>
            </a:r>
          </a:p>
        </p:txBody>
      </p:sp>
      <p:sp>
        <p:nvSpPr>
          <p:cNvPr id="29" name="TextBox 28"/>
          <p:cNvSpPr txBox="1"/>
          <p:nvPr/>
        </p:nvSpPr>
        <p:spPr>
          <a:xfrm>
            <a:off x="612648" y="6080760"/>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END-USER &amp; ALGORITHMIC CAPABILITIES IMPLEMENTED IN THE OBST DESIGNER</a:t>
            </a:r>
          </a:p>
        </p:txBody>
      </p:sp>
      <p:sp>
        <p:nvSpPr>
          <p:cNvPr id="30"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TECHNICAL FOUNDATION</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Algorithms, Tools &amp; Technologies</a:t>
            </a:r>
          </a:p>
        </p:txBody>
      </p:sp>
      <p:sp>
        <p:nvSpPr>
          <p:cNvPr id="4" name="TextBox 3"/>
          <p:cNvSpPr txBox="1"/>
          <p:nvPr/>
        </p:nvSpPr>
        <p:spPr>
          <a:xfrm>
            <a:off x="612648" y="1572768"/>
            <a:ext cx="5303520" cy="201168"/>
          </a:xfrm>
          <a:prstGeom prst="rect">
            <a:avLst/>
          </a:prstGeom>
          <a:noFill/>
        </p:spPr>
        <p:txBody>
          <a:bodyPr wrap="square" lIns="0" rIns="0" tIns="0" bIns="0" anchor="t">
            <a:spAutoFit/>
          </a:bodyPr>
          <a:lstStyle/>
          <a:p>
            <a:pPr algn="l"/>
            <a:r>
              <a:rPr sz="1050" spc="150">
                <a:solidFill>
                  <a:srgbClr val="55656E"/>
                </a:solidFill>
                <a:latin typeface="Segoe UI Semibold"/>
              </a:rPr>
              <a:t>DATA STRUCTURES &amp; ALGORITHMS</a:t>
            </a:r>
          </a:p>
        </p:txBody>
      </p:sp>
      <p:sp>
        <p:nvSpPr>
          <p:cNvPr id="5" name="TextBox 4"/>
          <p:cNvSpPr txBox="1"/>
          <p:nvPr/>
        </p:nvSpPr>
        <p:spPr>
          <a:xfrm>
            <a:off x="612648" y="1874519"/>
            <a:ext cx="5303520" cy="274320"/>
          </a:xfrm>
          <a:prstGeom prst="rect">
            <a:avLst/>
          </a:prstGeom>
          <a:noFill/>
        </p:spPr>
        <p:txBody>
          <a:bodyPr wrap="square" lIns="0" rIns="0" tIns="0" bIns="0" anchor="t">
            <a:spAutoFit/>
          </a:bodyPr>
          <a:lstStyle/>
          <a:p>
            <a:pPr algn="l"/>
            <a:r>
              <a:rPr sz="1500">
                <a:solidFill>
                  <a:srgbClr val="0F1E26"/>
                </a:solidFill>
                <a:latin typeface="Segoe UI Semibold"/>
              </a:rPr>
              <a:t>Binary Search Tree</a:t>
            </a:r>
          </a:p>
        </p:txBody>
      </p:sp>
      <p:sp>
        <p:nvSpPr>
          <p:cNvPr id="6" name="TextBox 5"/>
          <p:cNvSpPr txBox="1"/>
          <p:nvPr/>
        </p:nvSpPr>
        <p:spPr>
          <a:xfrm>
            <a:off x="612648" y="2203703"/>
            <a:ext cx="5303520" cy="274320"/>
          </a:xfrm>
          <a:prstGeom prst="rect">
            <a:avLst/>
          </a:prstGeom>
          <a:noFill/>
        </p:spPr>
        <p:txBody>
          <a:bodyPr wrap="square" lIns="0" rIns="0" tIns="0" bIns="0" anchor="t">
            <a:spAutoFit/>
          </a:bodyPr>
          <a:lstStyle/>
          <a:p>
            <a:pPr algn="l"/>
            <a:r>
              <a:rPr sz="1200">
                <a:solidFill>
                  <a:srgbClr val="55656E"/>
                </a:solidFill>
                <a:latin typeface="Segoe UI"/>
              </a:rPr>
              <a:t>Ordered keys; comparisons per search = depth of the key</a:t>
            </a:r>
          </a:p>
        </p:txBody>
      </p:sp>
      <p:sp>
        <p:nvSpPr>
          <p:cNvPr id="7" name="Rectangle 6"/>
          <p:cNvSpPr/>
          <p:nvPr/>
        </p:nvSpPr>
        <p:spPr>
          <a:xfrm>
            <a:off x="612648" y="2606039"/>
            <a:ext cx="5285232" cy="10972"/>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2761487"/>
            <a:ext cx="5303520" cy="274320"/>
          </a:xfrm>
          <a:prstGeom prst="rect">
            <a:avLst/>
          </a:prstGeom>
          <a:noFill/>
        </p:spPr>
        <p:txBody>
          <a:bodyPr wrap="square" lIns="0" rIns="0" tIns="0" bIns="0" anchor="t">
            <a:spAutoFit/>
          </a:bodyPr>
          <a:lstStyle/>
          <a:p>
            <a:pPr algn="l"/>
            <a:r>
              <a:rPr sz="1500">
                <a:solidFill>
                  <a:srgbClr val="0F1E26"/>
                </a:solidFill>
                <a:latin typeface="Segoe UI Semibold"/>
              </a:rPr>
              <a:t>Interval Dynamic Programming</a:t>
            </a:r>
          </a:p>
        </p:txBody>
      </p:sp>
      <p:sp>
        <p:nvSpPr>
          <p:cNvPr id="9" name="TextBox 8"/>
          <p:cNvSpPr txBox="1"/>
          <p:nvPr/>
        </p:nvSpPr>
        <p:spPr>
          <a:xfrm>
            <a:off x="612648" y="3090671"/>
            <a:ext cx="5303520" cy="274320"/>
          </a:xfrm>
          <a:prstGeom prst="rect">
            <a:avLst/>
          </a:prstGeom>
          <a:noFill/>
        </p:spPr>
        <p:txBody>
          <a:bodyPr wrap="square" lIns="0" rIns="0" tIns="0" bIns="0" anchor="t">
            <a:spAutoFit/>
          </a:bodyPr>
          <a:lstStyle/>
          <a:p>
            <a:pPr algn="l"/>
            <a:r>
              <a:rPr sz="1200">
                <a:solidFill>
                  <a:srgbClr val="55656E"/>
                </a:solidFill>
                <a:latin typeface="Segoe UI"/>
              </a:rPr>
              <a:t>Subproblems are key ranges (i, j), solved shortest first</a:t>
            </a:r>
          </a:p>
        </p:txBody>
      </p:sp>
      <p:sp>
        <p:nvSpPr>
          <p:cNvPr id="10" name="Rectangle 9"/>
          <p:cNvSpPr/>
          <p:nvPr/>
        </p:nvSpPr>
        <p:spPr>
          <a:xfrm>
            <a:off x="612648" y="3493007"/>
            <a:ext cx="5285232" cy="10972"/>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3648456"/>
            <a:ext cx="5303520" cy="274320"/>
          </a:xfrm>
          <a:prstGeom prst="rect">
            <a:avLst/>
          </a:prstGeom>
          <a:noFill/>
        </p:spPr>
        <p:txBody>
          <a:bodyPr wrap="square" lIns="0" rIns="0" tIns="0" bIns="0" anchor="t">
            <a:spAutoFit/>
          </a:bodyPr>
          <a:lstStyle/>
          <a:p>
            <a:pPr algn="l"/>
            <a:r>
              <a:rPr sz="1500">
                <a:solidFill>
                  <a:srgbClr val="0F1E26"/>
                </a:solidFill>
                <a:latin typeface="Segoe UI Semibold"/>
              </a:rPr>
              <a:t>W / C / R Tables (2D arrays)</a:t>
            </a:r>
          </a:p>
        </p:txBody>
      </p:sp>
      <p:sp>
        <p:nvSpPr>
          <p:cNvPr id="12" name="TextBox 11"/>
          <p:cNvSpPr txBox="1"/>
          <p:nvPr/>
        </p:nvSpPr>
        <p:spPr>
          <a:xfrm>
            <a:off x="612648" y="3977639"/>
            <a:ext cx="5303520" cy="274320"/>
          </a:xfrm>
          <a:prstGeom prst="rect">
            <a:avLst/>
          </a:prstGeom>
          <a:noFill/>
        </p:spPr>
        <p:txBody>
          <a:bodyPr wrap="square" lIns="0" rIns="0" tIns="0" bIns="0" anchor="t">
            <a:spAutoFit/>
          </a:bodyPr>
          <a:lstStyle/>
          <a:p>
            <a:pPr algn="l"/>
            <a:r>
              <a:rPr sz="1200">
                <a:solidFill>
                  <a:srgbClr val="55656E"/>
                </a:solidFill>
                <a:latin typeface="Segoe UI"/>
              </a:rPr>
              <a:t>Weights, minimum costs and chosen roots for every range</a:t>
            </a:r>
          </a:p>
        </p:txBody>
      </p:sp>
      <p:sp>
        <p:nvSpPr>
          <p:cNvPr id="13" name="Rectangle 12"/>
          <p:cNvSpPr/>
          <p:nvPr/>
        </p:nvSpPr>
        <p:spPr>
          <a:xfrm>
            <a:off x="612648" y="4379976"/>
            <a:ext cx="5285232" cy="10972"/>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4535424"/>
            <a:ext cx="5303520" cy="274320"/>
          </a:xfrm>
          <a:prstGeom prst="rect">
            <a:avLst/>
          </a:prstGeom>
          <a:noFill/>
        </p:spPr>
        <p:txBody>
          <a:bodyPr wrap="square" lIns="0" rIns="0" tIns="0" bIns="0" anchor="t">
            <a:spAutoFit/>
          </a:bodyPr>
          <a:lstStyle/>
          <a:p>
            <a:pPr algn="l"/>
            <a:r>
              <a:rPr sz="1500">
                <a:solidFill>
                  <a:srgbClr val="0F1E26"/>
                </a:solidFill>
                <a:latin typeface="Segoe UI Semibold"/>
              </a:rPr>
              <a:t>Recursion</a:t>
            </a:r>
          </a:p>
        </p:txBody>
      </p:sp>
      <p:sp>
        <p:nvSpPr>
          <p:cNvPr id="15" name="TextBox 14"/>
          <p:cNvSpPr txBox="1"/>
          <p:nvPr/>
        </p:nvSpPr>
        <p:spPr>
          <a:xfrm>
            <a:off x="612648" y="4864608"/>
            <a:ext cx="5303520" cy="274320"/>
          </a:xfrm>
          <a:prstGeom prst="rect">
            <a:avLst/>
          </a:prstGeom>
          <a:noFill/>
        </p:spPr>
        <p:txBody>
          <a:bodyPr wrap="square" lIns="0" rIns="0" tIns="0" bIns="0" anchor="t">
            <a:spAutoFit/>
          </a:bodyPr>
          <a:lstStyle/>
          <a:p>
            <a:pPr algn="l"/>
            <a:r>
              <a:rPr sz="1200">
                <a:solidFill>
                  <a:srgbClr val="55656E"/>
                </a:solidFill>
                <a:latin typeface="Segoe UI"/>
              </a:rPr>
              <a:t>Builds the tree from R: root R[i][j], subtrees (i, k−1) and (k, j)</a:t>
            </a:r>
          </a:p>
        </p:txBody>
      </p:sp>
      <p:sp>
        <p:nvSpPr>
          <p:cNvPr id="16" name="Rectangle 15"/>
          <p:cNvSpPr/>
          <p:nvPr/>
        </p:nvSpPr>
        <p:spPr>
          <a:xfrm>
            <a:off x="612648" y="5266944"/>
            <a:ext cx="5285232" cy="10972"/>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5422392"/>
            <a:ext cx="5303520" cy="274320"/>
          </a:xfrm>
          <a:prstGeom prst="rect">
            <a:avLst/>
          </a:prstGeom>
          <a:noFill/>
        </p:spPr>
        <p:txBody>
          <a:bodyPr wrap="square" lIns="0" rIns="0" tIns="0" bIns="0" anchor="t">
            <a:spAutoFit/>
          </a:bodyPr>
          <a:lstStyle/>
          <a:p>
            <a:pPr algn="l"/>
            <a:r>
              <a:rPr sz="1500">
                <a:solidFill>
                  <a:srgbClr val="0F1E26"/>
                </a:solidFill>
                <a:latin typeface="Segoe UI Semibold"/>
              </a:rPr>
              <a:t>Complexity</a:t>
            </a:r>
          </a:p>
        </p:txBody>
      </p:sp>
      <p:sp>
        <p:nvSpPr>
          <p:cNvPr id="18" name="TextBox 17"/>
          <p:cNvSpPr txBox="1"/>
          <p:nvPr/>
        </p:nvSpPr>
        <p:spPr>
          <a:xfrm>
            <a:off x="612648" y="5751576"/>
            <a:ext cx="5303520" cy="274320"/>
          </a:xfrm>
          <a:prstGeom prst="rect">
            <a:avLst/>
          </a:prstGeom>
          <a:noFill/>
        </p:spPr>
        <p:txBody>
          <a:bodyPr wrap="square" lIns="0" rIns="0" tIns="0" bIns="0" anchor="t">
            <a:spAutoFit/>
          </a:bodyPr>
          <a:lstStyle/>
          <a:p>
            <a:pPr algn="l"/>
            <a:r>
              <a:rPr sz="1200">
                <a:solidFill>
                  <a:srgbClr val="55656E"/>
                </a:solidFill>
                <a:latin typeface="Segoe UI"/>
              </a:rPr>
              <a:t>O(n³) time · O(n²) space</a:t>
            </a:r>
          </a:p>
        </p:txBody>
      </p:sp>
      <p:sp>
        <p:nvSpPr>
          <p:cNvPr id="19" name="Rectangle 18"/>
          <p:cNvSpPr/>
          <p:nvPr/>
        </p:nvSpPr>
        <p:spPr>
          <a:xfrm>
            <a:off x="6089904" y="1572768"/>
            <a:ext cx="10972" cy="4572000"/>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0216" y="1572768"/>
            <a:ext cx="5285232" cy="201168"/>
          </a:xfrm>
          <a:prstGeom prst="rect">
            <a:avLst/>
          </a:prstGeom>
          <a:noFill/>
        </p:spPr>
        <p:txBody>
          <a:bodyPr wrap="square" lIns="0" rIns="0" tIns="0" bIns="0" anchor="t">
            <a:spAutoFit/>
          </a:bodyPr>
          <a:lstStyle/>
          <a:p>
            <a:pPr algn="l"/>
            <a:r>
              <a:rPr sz="1050" spc="150">
                <a:solidFill>
                  <a:srgbClr val="55656E"/>
                </a:solidFill>
                <a:latin typeface="Segoe UI Semibold"/>
              </a:rPr>
              <a:t>TOOLS &amp; TECHNOLOGIES</a:t>
            </a:r>
          </a:p>
        </p:txBody>
      </p:sp>
      <p:sp>
        <p:nvSpPr>
          <p:cNvPr id="21" name="TextBox 20"/>
          <p:cNvSpPr txBox="1"/>
          <p:nvPr/>
        </p:nvSpPr>
        <p:spPr>
          <a:xfrm>
            <a:off x="6300216" y="1874519"/>
            <a:ext cx="5285232" cy="548640"/>
          </a:xfrm>
          <a:prstGeom prst="rect">
            <a:avLst/>
          </a:prstGeom>
          <a:noFill/>
        </p:spPr>
        <p:txBody>
          <a:bodyPr wrap="square" lIns="0" rIns="0" tIns="0" bIns="0" anchor="t">
            <a:spAutoFit/>
          </a:bodyPr>
          <a:lstStyle/>
          <a:p>
            <a:pPr algn="l"/>
            <a:r>
              <a:rPr sz="1250">
                <a:solidFill>
                  <a:srgbClr val="2A3A43"/>
                </a:solidFill>
                <a:latin typeface="Segoe UI"/>
              </a:rPr>
              <a:t>Java 17 · Spring Boot · Maven · JUnit 5 · React 19 · Vite · JavaScript · HTML / CSS · SVG · VS Code · Git / GitHub</a:t>
            </a:r>
          </a:p>
        </p:txBody>
      </p:sp>
      <p:sp>
        <p:nvSpPr>
          <p:cNvPr id="22" name="Rectangle 21"/>
          <p:cNvSpPr/>
          <p:nvPr/>
        </p:nvSpPr>
        <p:spPr>
          <a:xfrm>
            <a:off x="6300216" y="2606040"/>
            <a:ext cx="5285232" cy="10972"/>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0216" y="2761488"/>
            <a:ext cx="5285232" cy="274320"/>
          </a:xfrm>
          <a:prstGeom prst="rect">
            <a:avLst/>
          </a:prstGeom>
          <a:noFill/>
        </p:spPr>
        <p:txBody>
          <a:bodyPr wrap="square" lIns="0" rIns="0" tIns="0" bIns="0" anchor="t">
            <a:spAutoFit/>
          </a:bodyPr>
          <a:lstStyle/>
          <a:p>
            <a:pPr algn="l"/>
            <a:r>
              <a:rPr sz="1500">
                <a:solidFill>
                  <a:srgbClr val="0F1E26"/>
                </a:solidFill>
                <a:latin typeface="Segoe UI Semibold"/>
              </a:rPr>
              <a:t>Architecture</a:t>
            </a:r>
          </a:p>
        </p:txBody>
      </p:sp>
      <p:sp>
        <p:nvSpPr>
          <p:cNvPr id="24" name="TextBox 23"/>
          <p:cNvSpPr txBox="1"/>
          <p:nvPr/>
        </p:nvSpPr>
        <p:spPr>
          <a:xfrm>
            <a:off x="6300216" y="3108960"/>
            <a:ext cx="5285232" cy="548640"/>
          </a:xfrm>
          <a:prstGeom prst="rect">
            <a:avLst/>
          </a:prstGeom>
          <a:noFill/>
        </p:spPr>
        <p:txBody>
          <a:bodyPr wrap="square" lIns="0" rIns="0" tIns="0" bIns="0" anchor="t">
            <a:spAutoFit/>
          </a:bodyPr>
          <a:lstStyle/>
          <a:p>
            <a:pPr algn="l"/>
            <a:r>
              <a:rPr sz="1250">
                <a:solidFill>
                  <a:srgbClr val="55656E"/>
                </a:solidFill>
                <a:latin typeface="Segoe UI"/>
              </a:rPr>
              <a:t>React Frontend → POST /api/obst/solve → Spring Boot API → DP Solver → Tree Builder → JSON → Visualization</a:t>
            </a:r>
          </a:p>
        </p:txBody>
      </p:sp>
      <p:sp>
        <p:nvSpPr>
          <p:cNvPr id="25" name="Rectangle 24"/>
          <p:cNvSpPr/>
          <p:nvPr/>
        </p:nvSpPr>
        <p:spPr>
          <a:xfrm>
            <a:off x="6300216" y="3886200"/>
            <a:ext cx="5285232" cy="10972"/>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0216" y="4041648"/>
            <a:ext cx="5285232" cy="274320"/>
          </a:xfrm>
          <a:prstGeom prst="rect">
            <a:avLst/>
          </a:prstGeom>
          <a:noFill/>
        </p:spPr>
        <p:txBody>
          <a:bodyPr wrap="square" lIns="0" rIns="0" tIns="0" bIns="0" anchor="t">
            <a:spAutoFit/>
          </a:bodyPr>
          <a:lstStyle/>
          <a:p>
            <a:pPr algn="l"/>
            <a:r>
              <a:rPr sz="1500">
                <a:solidFill>
                  <a:srgbClr val="0F1E26"/>
                </a:solidFill>
                <a:latin typeface="Segoe UI Semibold"/>
              </a:rPr>
              <a:t>Recurrence</a:t>
            </a:r>
          </a:p>
        </p:txBody>
      </p:sp>
      <p:sp>
        <p:nvSpPr>
          <p:cNvPr id="27" name="Recurrence box"/>
          <p:cNvSpPr/>
          <p:nvPr/>
        </p:nvSpPr>
        <p:spPr>
          <a:xfrm>
            <a:off x="6300216" y="4434840"/>
            <a:ext cx="5285232" cy="1143000"/>
          </a:xfrm>
          <a:prstGeom prst="rect">
            <a:avLst/>
          </a:prstGeom>
          <a:solidFill>
            <a:srgbClr val="E3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3096" y="4572000"/>
            <a:ext cx="4937760" cy="914400"/>
          </a:xfrm>
          <a:prstGeom prst="rect">
            <a:avLst/>
          </a:prstGeom>
          <a:noFill/>
        </p:spPr>
        <p:txBody>
          <a:bodyPr wrap="square" lIns="0" rIns="0" tIns="0" bIns="0" anchor="t">
            <a:spAutoFit/>
          </a:bodyPr>
          <a:lstStyle/>
          <a:p>
            <a:pPr algn="l">
              <a:spcAft>
                <a:spcPts val="600"/>
              </a:spcAft>
            </a:pPr>
            <a:r>
              <a:rPr sz="1600">
                <a:solidFill>
                  <a:srgbClr val="0F1E26"/>
                </a:solidFill>
                <a:latin typeface="Segoe UI Semibold"/>
              </a:rPr>
              <a:t>C[i][j] = min</a:t>
            </a:r>
            <a:r>
              <a:rPr sz="1100">
                <a:solidFill>
                  <a:srgbClr val="55656E"/>
                </a:solidFill>
                <a:latin typeface="Segoe UI Semibold"/>
              </a:rPr>
              <a:t> i&lt;k≤j</a:t>
            </a:r>
            <a:r>
              <a:rPr sz="1600">
                <a:solidFill>
                  <a:srgbClr val="0F1E26"/>
                </a:solidFill>
                <a:latin typeface="Segoe UI Semibold"/>
              </a:rPr>
              <a:t> { C[i][k−1] + C[k][j] } + W[i][j]</a:t>
            </a:r>
          </a:p>
          <a:p>
            <a:pPr algn="l">
              <a:spcAft>
                <a:spcPts val="600"/>
              </a:spcAft>
            </a:pPr>
            <a:r>
              <a:rPr sz="1200">
                <a:solidFill>
                  <a:srgbClr val="55656E"/>
                </a:solidFill>
                <a:latin typeface="Segoe UI Semibold"/>
              </a:rPr>
              <a:t>W[i][j] = W[i][j−1] + p[j]   ·   R[i][j] = the k giving the minimum</a:t>
            </a:r>
          </a:p>
        </p:txBody>
      </p:sp>
      <p:sp>
        <p:nvSpPr>
          <p:cNvPr id="29"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PROJECT TARGETS</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Objectives</a:t>
            </a:r>
          </a:p>
        </p:txBody>
      </p:sp>
      <p:sp>
        <p:nvSpPr>
          <p:cNvPr id="4" name="TextBox 3"/>
          <p:cNvSpPr txBox="1"/>
          <p:nvPr/>
        </p:nvSpPr>
        <p:spPr>
          <a:xfrm>
            <a:off x="612648" y="1536192"/>
            <a:ext cx="10972800" cy="274320"/>
          </a:xfrm>
          <a:prstGeom prst="rect">
            <a:avLst/>
          </a:prstGeom>
          <a:noFill/>
        </p:spPr>
        <p:txBody>
          <a:bodyPr wrap="square" lIns="0" rIns="0" tIns="0" bIns="0" anchor="t">
            <a:spAutoFit/>
          </a:bodyPr>
          <a:lstStyle/>
          <a:p>
            <a:pPr algn="l"/>
            <a:r>
              <a:rPr sz="1200">
                <a:solidFill>
                  <a:srgbClr val="55656E"/>
                </a:solidFill>
                <a:latin typeface="Segoe UI"/>
              </a:rPr>
              <a:t>Eight targets that guided the implementation and evaluation of the OBST Designer.</a:t>
            </a:r>
          </a:p>
        </p:txBody>
      </p:sp>
      <p:graphicFrame>
        <p:nvGraphicFramePr>
          <p:cNvPr id="5" name="Table 4"/>
          <p:cNvGraphicFramePr>
            <a:graphicFrameLocks noGrp="1"/>
          </p:cNvGraphicFramePr>
          <p:nvPr/>
        </p:nvGraphicFramePr>
        <p:xfrm>
          <a:off x="612648" y="1920240"/>
          <a:ext cx="10972800" cy="4389120"/>
        </p:xfrm>
        <a:graphic>
          <a:graphicData uri="http://schemas.openxmlformats.org/drawingml/2006/table">
            <a:tbl>
              <a:tblPr firstRow="0" bandRow="0">
                <a:tableStyleId>{2D5ABB26-0587-4C30-8999-92F81FD0307C}</a:tableStyleId>
              </a:tblPr>
              <a:tblGrid>
                <a:gridCol w="960120"/>
                <a:gridCol w="3794760"/>
                <a:gridCol w="4663440"/>
                <a:gridCol w="1554480"/>
              </a:tblGrid>
              <a:tr h="365760">
                <a:tc>
                  <a:txBody>
                    <a:bodyPr wrap="square"/>
                    <a:lstStyle/>
                    <a:p>
                      <a:r>
                        <a:rPr sz="1000" spc="100">
                          <a:solidFill>
                            <a:srgbClr val="55656E"/>
                          </a:solidFill>
                          <a:latin typeface="Segoe UI Semibold"/>
                        </a:rPr>
                        <a:t>TARGET</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55656E"/>
                          </a:solidFill>
                          <a:latin typeface="Segoe UI Semibold"/>
                        </a:rPr>
                        <a:t>CORE OBJECTIVE</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55656E"/>
                          </a:solidFill>
                          <a:latin typeface="Segoe UI Semibold"/>
                        </a:rPr>
                        <a:t>TECHNICAL IMPLEMENTATION &amp; SCOPE</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55656E"/>
                          </a:solidFill>
                          <a:latin typeface="Segoe UI Semibold"/>
                        </a:rPr>
                        <a:t>CATEGORY</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OBJ-01</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0F1E26"/>
                          </a:solidFill>
                          <a:latin typeface="Segoe UI Semibold"/>
                        </a:rPr>
                        <a:t>Optimal BST algorithm</a:t>
                      </a:r>
                    </a:p>
                    <a:p>
                      <a:r>
                        <a:rPr sz="1050">
                          <a:solidFill>
                            <a:srgbClr val="55656E"/>
                          </a:solidFill>
                          <a:latin typeface="Segoe UI"/>
                        </a:rPr>
                        <a:t>Build the BST with minimum expected search cost.</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2A3A43"/>
                          </a:solidFill>
                          <a:latin typeface="Segoe UI"/>
                        </a:rPr>
                        <a:t>Frequencies-only OBST (no q values or dummy nodes), solved exactly in the Java backend.</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1F5FBF"/>
                          </a:solidFill>
                          <a:latin typeface="Segoe UI Semibold"/>
                        </a:rPr>
                        <a:t>CORE</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OBJ-02</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0F1E26"/>
                          </a:solidFill>
                          <a:latin typeface="Segoe UI Semibold"/>
                        </a:rPr>
                        <a:t>Interval DP fill order</a:t>
                      </a:r>
                    </a:p>
                    <a:p>
                      <a:r>
                        <a:rPr sz="1050">
                          <a:solidFill>
                            <a:srgbClr val="55656E"/>
                          </a:solidFill>
                          <a:latin typeface="Segoe UI"/>
                        </a:rPr>
                        <a:t>Solve shorter key ranges before longer ones.</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2A3A43"/>
                          </a:solidFill>
                          <a:latin typeface="Segoe UI"/>
                        </a:rPr>
                        <a:t>Diagonal loop d = j − i = 1 … n; each C[i][j] uses only shorter ranges.</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1F5FBF"/>
                          </a:solidFill>
                          <a:latin typeface="Segoe UI Semibold"/>
                        </a:rPr>
                        <a:t>ALGORITHM</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OBJ-03</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0F1E26"/>
                          </a:solidFill>
                          <a:latin typeface="Segoe UI Semibold"/>
                        </a:rPr>
                        <a:t>W, C and R tables</a:t>
                      </a:r>
                    </a:p>
                    <a:p>
                      <a:r>
                        <a:rPr sz="1050">
                          <a:solidFill>
                            <a:srgbClr val="55656E"/>
                          </a:solidFill>
                          <a:latin typeface="Segoe UI"/>
                        </a:rPr>
                        <a:t>Store weight, cost and root for every range.</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2A3A43"/>
                          </a:solidFill>
                          <a:latin typeface="Segoe UI"/>
                        </a:rPr>
                        <a:t>Three (n+1) × (n+1) arrays; minimum over i &lt; k ≤ j, smallest k kept on ties.</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1F5FBF"/>
                          </a:solidFill>
                          <a:latin typeface="Segoe UI Semibold"/>
                        </a:rPr>
                        <a:t>DP</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OBJ-04</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0F1E26"/>
                          </a:solidFill>
                          <a:latin typeface="Segoe UI Semibold"/>
                        </a:rPr>
                        <a:t>Tree construction</a:t>
                      </a:r>
                    </a:p>
                    <a:p>
                      <a:r>
                        <a:rPr sz="1050">
                          <a:solidFill>
                            <a:srgbClr val="55656E"/>
                          </a:solidFill>
                          <a:latin typeface="Segoe UI"/>
                        </a:rPr>
                        <a:t>Rebuild the optimal tree from the root table.</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2A3A43"/>
                          </a:solidFill>
                          <a:latin typeface="Segoe UI"/>
                        </a:rPr>
                        <a:t>Recursive build: root R[i][j], subtrees (i, k−1) and (k, j), in O(n).</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1F5FBF"/>
                          </a:solidFill>
                          <a:latin typeface="Segoe UI Semibold"/>
                        </a:rPr>
                        <a:t>DATA STRUCTURE</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OBJ-05</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0F1E26"/>
                          </a:solidFill>
                          <a:latin typeface="Segoe UI Semibold"/>
                        </a:rPr>
                        <a:t>Expected search cost</a:t>
                      </a:r>
                    </a:p>
                    <a:p>
                      <a:r>
                        <a:rPr sz="1050">
                          <a:solidFill>
                            <a:srgbClr val="55656E"/>
                          </a:solidFill>
                          <a:latin typeface="Segoe UI"/>
                        </a:rPr>
                        <a:t>Report average comparisons per search.</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2A3A43"/>
                          </a:solidFill>
                          <a:latin typeface="Segoe UI"/>
                        </a:rPr>
                        <a:t>C[0][n] / W[0][n] to 4 decimals, plus a frequency × depth breakdown per key.</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1F5FBF"/>
                          </a:solidFill>
                          <a:latin typeface="Segoe UI Semibold"/>
                        </a:rPr>
                        <a:t>ANALYSIS</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OBJ-06</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0F1E26"/>
                          </a:solidFill>
                          <a:latin typeface="Segoe UI Semibold"/>
                        </a:rPr>
                        <a:t>Input validation</a:t>
                      </a:r>
                    </a:p>
                    <a:p>
                      <a:r>
                        <a:rPr sz="1050">
                          <a:solidFill>
                            <a:srgbClr val="55656E"/>
                          </a:solidFill>
                          <a:latin typeface="Segoe UI"/>
                        </a:rPr>
                        <a:t>Reject bad input with clear messages.</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2A3A43"/>
                          </a:solidFill>
                          <a:latin typeface="Segoe UI"/>
                        </a:rPr>
                        <a:t>Whole-number distinct keys, positive frequencies, 1–15 keys; unsorted keys are sorted with a notice.</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1F5FBF"/>
                          </a:solidFill>
                          <a:latin typeface="Segoe UI Semibold"/>
                        </a:rPr>
                        <a:t>INPUT</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OBJ-07</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0F1E26"/>
                          </a:solidFill>
                          <a:latin typeface="Segoe UI Semibold"/>
                        </a:rPr>
                        <a:t>Visualization &amp; search simulation</a:t>
                      </a:r>
                    </a:p>
                    <a:p>
                      <a:r>
                        <a:rPr sz="1050">
                          <a:solidFill>
                            <a:srgbClr val="55656E"/>
                          </a:solidFill>
                          <a:latin typeface="Segoe UI"/>
                        </a:rPr>
                        <a:t>Make the tree and each search visible.</a:t>
                      </a:r>
                    </a:p>
                  </a:txBody>
                  <a:tcPr marL="73152" marR="73152" marT="36576" marB="36576" anchor="ctr">
                    <a:noFill/>
                    <a:lnL w="0">
                      <a:noFill/>
                    </a:lnL>
                    <a:lnR w="0">
                      <a:noFill/>
                    </a:lnR>
                    <a:lnT w="0">
                      <a:noFill/>
                    </a:lnT>
                    <a:lnB w="9525">
                      <a:solidFill>
                        <a:srgbClr val="C9D6DB"/>
                      </a:solidFill>
                    </a:lnB>
                  </a:tcPr>
                </a:tc>
                <a:tc>
                  <a:txBody>
                    <a:bodyPr wrap="square"/>
                    <a:lstStyle/>
                    <a:p>
                      <a:r>
                        <a:rPr sz="1050">
                          <a:solidFill>
                            <a:srgbClr val="2A3A43"/>
                          </a:solidFill>
                          <a:latin typeface="Segoe UI"/>
                        </a:rPr>
                        <a:t>React + SVG tree, animated search path with comparison count, hover tooltips.</a:t>
                      </a:r>
                    </a:p>
                  </a:txBody>
                  <a:tcPr marL="73152" marR="73152" marT="36576" marB="36576" anchor="ctr">
                    <a:noFill/>
                    <a:lnL w="0">
                      <a:noFill/>
                    </a:lnL>
                    <a:lnR w="0">
                      <a:noFill/>
                    </a:lnR>
                    <a:lnT w="0">
                      <a:noFill/>
                    </a:lnT>
                    <a:lnB w="9525">
                      <a:solidFill>
                        <a:srgbClr val="C9D6DB"/>
                      </a:solidFill>
                    </a:lnB>
                  </a:tcPr>
                </a:tc>
                <a:tc>
                  <a:txBody>
                    <a:bodyPr wrap="square"/>
                    <a:lstStyle/>
                    <a:p>
                      <a:r>
                        <a:rPr sz="1000" spc="100">
                          <a:solidFill>
                            <a:srgbClr val="1F5FBF"/>
                          </a:solidFill>
                          <a:latin typeface="Segoe UI Semibold"/>
                        </a:rPr>
                        <a:t>INTERFACE</a:t>
                      </a:r>
                    </a:p>
                  </a:txBody>
                  <a:tcPr marL="73152" marR="73152" marT="36576" marB="36576" anchor="ctr">
                    <a:noFill/>
                    <a:lnL w="0">
                      <a:noFill/>
                    </a:lnL>
                    <a:lnR w="0">
                      <a:noFill/>
                    </a:lnR>
                    <a:lnT w="0">
                      <a:noFill/>
                    </a:lnT>
                    <a:lnB w="9525">
                      <a:solidFill>
                        <a:srgbClr val="C9D6DB"/>
                      </a:solidFill>
                    </a:lnB>
                  </a:tcPr>
                </a:tc>
              </a:tr>
              <a:tr h="502920">
                <a:tc>
                  <a:txBody>
                    <a:bodyPr wrap="square"/>
                    <a:lstStyle/>
                    <a:p>
                      <a:r>
                        <a:rPr sz="1050">
                          <a:solidFill>
                            <a:srgbClr val="0F1E26"/>
                          </a:solidFill>
                          <a:latin typeface="Segoe UI Semibold"/>
                        </a:rPr>
                        <a:t>OBJ-08</a:t>
                      </a:r>
                    </a:p>
                  </a:txBody>
                  <a:tcPr marL="73152" marR="73152" marT="36576" marB="36576" anchor="ctr">
                    <a:noFill/>
                    <a:lnL w="0">
                      <a:noFill/>
                    </a:lnL>
                    <a:lnR w="0">
                      <a:noFill/>
                    </a:lnR>
                    <a:lnT w="0">
                      <a:noFill/>
                    </a:lnT>
                    <a:lnB w="0">
                      <a:noFill/>
                    </a:lnB>
                  </a:tcPr>
                </a:tc>
                <a:tc>
                  <a:txBody>
                    <a:bodyPr wrap="square"/>
                    <a:lstStyle/>
                    <a:p>
                      <a:r>
                        <a:rPr sz="1050">
                          <a:solidFill>
                            <a:srgbClr val="0F1E26"/>
                          </a:solidFill>
                          <a:latin typeface="Segoe UI Semibold"/>
                        </a:rPr>
                        <a:t>Course-format DP table</a:t>
                      </a:r>
                    </a:p>
                    <a:p>
                      <a:r>
                        <a:rPr sz="1050">
                          <a:solidFill>
                            <a:srgbClr val="55656E"/>
                          </a:solidFill>
                          <a:latin typeface="Segoe UI"/>
                        </a:rPr>
                        <a:t>Match the W / C / R table taught in class.</a:t>
                      </a:r>
                    </a:p>
                  </a:txBody>
                  <a:tcPr marL="73152" marR="73152" marT="36576" marB="36576" anchor="ctr">
                    <a:noFill/>
                    <a:lnL w="0">
                      <a:noFill/>
                    </a:lnL>
                    <a:lnR w="0">
                      <a:noFill/>
                    </a:lnR>
                    <a:lnT w="0">
                      <a:noFill/>
                    </a:lnT>
                    <a:lnB w="0">
                      <a:noFill/>
                    </a:lnB>
                  </a:tcPr>
                </a:tc>
                <a:tc>
                  <a:txBody>
                    <a:bodyPr wrap="square"/>
                    <a:lstStyle/>
                    <a:p>
                      <a:r>
                        <a:rPr sz="1050">
                          <a:solidFill>
                            <a:srgbClr val="2A3A43"/>
                          </a:solidFill>
                          <a:latin typeface="Segoe UI"/>
                        </a:rPr>
                        <a:t>Staircase layout by diagonal; clicking a cell shows its full working.</a:t>
                      </a:r>
                    </a:p>
                  </a:txBody>
                  <a:tcPr marL="73152" marR="73152" marT="36576" marB="36576" anchor="ctr">
                    <a:noFill/>
                    <a:lnL w="0">
                      <a:noFill/>
                    </a:lnL>
                    <a:lnR w="0">
                      <a:noFill/>
                    </a:lnR>
                    <a:lnT w="0">
                      <a:noFill/>
                    </a:lnT>
                    <a:lnB w="0">
                      <a:noFill/>
                    </a:lnB>
                  </a:tcPr>
                </a:tc>
                <a:tc>
                  <a:txBody>
                    <a:bodyPr wrap="square"/>
                    <a:lstStyle/>
                    <a:p>
                      <a:r>
                        <a:rPr sz="1000" spc="100">
                          <a:solidFill>
                            <a:srgbClr val="1F5FBF"/>
                          </a:solidFill>
                          <a:latin typeface="Segoe UI Semibold"/>
                        </a:rPr>
                        <a:t>LEARNING</a:t>
                      </a:r>
                    </a:p>
                  </a:txBody>
                  <a:tcPr marL="73152" marR="73152" marT="36576" marB="36576" anchor="ctr">
                    <a:noFill/>
                    <a:lnL w="0">
                      <a:noFill/>
                    </a:lnL>
                    <a:lnR w="0">
                      <a:noFill/>
                    </a:lnR>
                    <a:lnT w="0">
                      <a:noFill/>
                    </a:lnT>
                    <a:lnB w="0">
                      <a:noFill/>
                    </a:lnB>
                  </a:tcPr>
                </a:tc>
              </a:tr>
            </a:tbl>
          </a:graphicData>
        </a:graphic>
      </p:graphicFrame>
      <p:sp>
        <p:nvSpPr>
          <p:cNvPr id="6"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EXECUTION ARCHITECTURE</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System Flow</a:t>
            </a:r>
          </a:p>
        </p:txBody>
      </p:sp>
      <p:sp>
        <p:nvSpPr>
          <p:cNvPr id="4" name="TextBox 3"/>
          <p:cNvSpPr txBox="1"/>
          <p:nvPr/>
        </p:nvSpPr>
        <p:spPr>
          <a:xfrm>
            <a:off x="612648" y="1536192"/>
            <a:ext cx="10972800" cy="365760"/>
          </a:xfrm>
          <a:prstGeom prst="rect">
            <a:avLst/>
          </a:prstGeom>
          <a:noFill/>
        </p:spPr>
        <p:txBody>
          <a:bodyPr wrap="square" lIns="0" rIns="0" tIns="0" bIns="0" anchor="t">
            <a:spAutoFit/>
          </a:bodyPr>
          <a:lstStyle/>
          <a:p>
            <a:pPr algn="l"/>
            <a:r>
              <a:rPr sz="1600">
                <a:solidFill>
                  <a:srgbClr val="55656E"/>
                </a:solidFill>
                <a:latin typeface="Segoe UI"/>
              </a:rPr>
              <a:t>Step-by-step request lifecycle, with the search simulation as a side-flow.</a:t>
            </a:r>
          </a:p>
        </p:txBody>
      </p:sp>
      <p:sp>
        <p:nvSpPr>
          <p:cNvPr id="5" name="TextBox 4"/>
          <p:cNvSpPr txBox="1"/>
          <p:nvPr/>
        </p:nvSpPr>
        <p:spPr>
          <a:xfrm>
            <a:off x="612648" y="2194560"/>
            <a:ext cx="7680960" cy="3931920"/>
          </a:xfrm>
          <a:prstGeom prst="rect">
            <a:avLst/>
          </a:prstGeom>
          <a:noFill/>
        </p:spPr>
        <p:txBody>
          <a:bodyPr wrap="square" lIns="0" rIns="0" tIns="0" bIns="0" anchor="t">
            <a:spAutoFit/>
          </a:bodyPr>
          <a:lstStyle/>
          <a:p>
            <a:pPr algn="l">
              <a:spcAft>
                <a:spcPts val="700"/>
              </a:spcAft>
            </a:pPr>
            <a:r>
              <a:rPr sz="1800">
                <a:solidFill>
                  <a:srgbClr val="1F5FBF"/>
                </a:solidFill>
                <a:latin typeface="Segoe UI Semibold"/>
              </a:rPr>
              <a:t>1. </a:t>
            </a:r>
            <a:r>
              <a:rPr sz="1800">
                <a:solidFill>
                  <a:srgbClr val="0F1E26"/>
                </a:solidFill>
                <a:latin typeface="Segoe UI Semibold"/>
              </a:rPr>
              <a:t>Input:</a:t>
            </a:r>
            <a:r>
              <a:rPr sz="1800">
                <a:solidFill>
                  <a:srgbClr val="2A3A43"/>
                </a:solidFill>
                <a:latin typeface="Segoe UI"/>
              </a:rPr>
              <a:t> enter keys and frequencies</a:t>
            </a:r>
          </a:p>
          <a:p>
            <a:pPr algn="l">
              <a:spcAft>
                <a:spcPts val="700"/>
              </a:spcAft>
            </a:pPr>
            <a:r>
              <a:rPr sz="1800">
                <a:solidFill>
                  <a:srgbClr val="1F5FBF"/>
                </a:solidFill>
                <a:latin typeface="Segoe UI Semibold"/>
              </a:rPr>
              <a:t>2. </a:t>
            </a:r>
            <a:r>
              <a:rPr sz="1800">
                <a:solidFill>
                  <a:srgbClr val="0F1E26"/>
                </a:solidFill>
                <a:latin typeface="Segoe UI Semibold"/>
              </a:rPr>
              <a:t>Validation:</a:t>
            </a:r>
            <a:r>
              <a:rPr sz="1800">
                <a:solidFill>
                  <a:srgbClr val="2A3A43"/>
                </a:solidFill>
                <a:latin typeface="Segoe UI"/>
              </a:rPr>
              <a:t> checked in the frontend and again in the backend</a:t>
            </a:r>
          </a:p>
          <a:p>
            <a:pPr algn="l">
              <a:spcAft>
                <a:spcPts val="700"/>
              </a:spcAft>
            </a:pPr>
            <a:r>
              <a:rPr sz="1800">
                <a:solidFill>
                  <a:srgbClr val="1F5FBF"/>
                </a:solidFill>
                <a:latin typeface="Segoe UI Semibold"/>
              </a:rPr>
              <a:t>3. </a:t>
            </a:r>
            <a:r>
              <a:rPr sz="1800">
                <a:solidFill>
                  <a:srgbClr val="0F1E26"/>
                </a:solidFill>
                <a:latin typeface="Segoe UI Semibold"/>
              </a:rPr>
              <a:t>Sort:</a:t>
            </a:r>
            <a:r>
              <a:rPr sz="1800">
                <a:solidFill>
                  <a:srgbClr val="2A3A43"/>
                </a:solidFill>
                <a:latin typeface="Segoe UI"/>
              </a:rPr>
              <a:t> keys sorted if needed; each frequency stays with its key</a:t>
            </a:r>
          </a:p>
          <a:p>
            <a:pPr algn="l">
              <a:spcAft>
                <a:spcPts val="700"/>
              </a:spcAft>
            </a:pPr>
            <a:r>
              <a:rPr sz="1800">
                <a:solidFill>
                  <a:srgbClr val="1F5FBF"/>
                </a:solidFill>
                <a:latin typeface="Segoe UI Semibold"/>
              </a:rPr>
              <a:t>4. </a:t>
            </a:r>
            <a:r>
              <a:rPr sz="1800">
                <a:solidFill>
                  <a:srgbClr val="0F1E26"/>
                </a:solidFill>
                <a:latin typeface="Segoe UI Semibold"/>
              </a:rPr>
              <a:t>Compute W:</a:t>
            </a:r>
            <a:r>
              <a:rPr sz="1800">
                <a:solidFill>
                  <a:srgbClr val="2A3A43"/>
                </a:solidFill>
                <a:latin typeface="Segoe UI"/>
              </a:rPr>
              <a:t> W[i][j] = W[i][j−1] + p[j]</a:t>
            </a:r>
          </a:p>
          <a:p>
            <a:pPr algn="l">
              <a:spcAft>
                <a:spcPts val="700"/>
              </a:spcAft>
            </a:pPr>
            <a:r>
              <a:rPr sz="1800">
                <a:solidFill>
                  <a:srgbClr val="1F5FBF"/>
                </a:solidFill>
                <a:latin typeface="Segoe UI Semibold"/>
              </a:rPr>
              <a:t>5. </a:t>
            </a:r>
            <a:r>
              <a:rPr sz="1800">
                <a:solidFill>
                  <a:srgbClr val="0F1E26"/>
                </a:solidFill>
                <a:latin typeface="Segoe UI Semibold"/>
              </a:rPr>
              <a:t>Compute C and R:</a:t>
            </a:r>
            <a:r>
              <a:rPr sz="1800">
                <a:solidFill>
                  <a:srgbClr val="2A3A43"/>
                </a:solidFill>
                <a:latin typeface="Segoe UI"/>
              </a:rPr>
              <a:t> filled diagonal by diagonal, j − i = 1 … n</a:t>
            </a:r>
          </a:p>
          <a:p>
            <a:pPr algn="l">
              <a:spcAft>
                <a:spcPts val="700"/>
              </a:spcAft>
            </a:pPr>
            <a:r>
              <a:rPr sz="1800">
                <a:solidFill>
                  <a:srgbClr val="1F5FBF"/>
                </a:solidFill>
                <a:latin typeface="Segoe UI Semibold"/>
              </a:rPr>
              <a:t>6. </a:t>
            </a:r>
            <a:r>
              <a:rPr sz="1800">
                <a:solidFill>
                  <a:srgbClr val="0F1E26"/>
                </a:solidFill>
                <a:latin typeface="Segoe UI Semibold"/>
              </a:rPr>
              <a:t>Build tree:</a:t>
            </a:r>
            <a:r>
              <a:rPr sz="1800">
                <a:solidFill>
                  <a:srgbClr val="2A3A43"/>
                </a:solidFill>
                <a:latin typeface="Segoe UI"/>
              </a:rPr>
              <a:t> recursively from the root table R</a:t>
            </a:r>
          </a:p>
          <a:p>
            <a:pPr algn="l">
              <a:spcAft>
                <a:spcPts val="700"/>
              </a:spcAft>
            </a:pPr>
            <a:r>
              <a:rPr sz="1800">
                <a:solidFill>
                  <a:srgbClr val="1F5FBF"/>
                </a:solidFill>
                <a:latin typeface="Segoe UI Semibold"/>
              </a:rPr>
              <a:t>7. </a:t>
            </a:r>
            <a:r>
              <a:rPr sz="1800">
                <a:solidFill>
                  <a:srgbClr val="0F1E26"/>
                </a:solidFill>
                <a:latin typeface="Segoe UI Semibold"/>
              </a:rPr>
              <a:t>Expected cost:</a:t>
            </a:r>
            <a:r>
              <a:rPr sz="1800">
                <a:solidFill>
                  <a:srgbClr val="2A3A43"/>
                </a:solidFill>
                <a:latin typeface="Segoe UI"/>
              </a:rPr>
              <a:t> C[0][n] / W[0][n]</a:t>
            </a:r>
          </a:p>
          <a:p>
            <a:pPr algn="l">
              <a:spcAft>
                <a:spcPts val="700"/>
              </a:spcAft>
            </a:pPr>
            <a:r>
              <a:rPr sz="1800">
                <a:solidFill>
                  <a:srgbClr val="1F5FBF"/>
                </a:solidFill>
                <a:latin typeface="Segoe UI Semibold"/>
              </a:rPr>
              <a:t>8. </a:t>
            </a:r>
            <a:r>
              <a:rPr sz="1800">
                <a:solidFill>
                  <a:srgbClr val="0F1E26"/>
                </a:solidFill>
                <a:latin typeface="Segoe UI Semibold"/>
              </a:rPr>
              <a:t>Display:</a:t>
            </a:r>
            <a:r>
              <a:rPr sz="1800">
                <a:solidFill>
                  <a:srgbClr val="2A3A43"/>
                </a:solidFill>
                <a:latin typeface="Segoe UI"/>
              </a:rPr>
              <a:t> result, tree, DP table and cost breakdown</a:t>
            </a:r>
          </a:p>
        </p:txBody>
      </p:sp>
      <p:sp>
        <p:nvSpPr>
          <p:cNvPr id="6" name="Search side-flow box"/>
          <p:cNvSpPr/>
          <p:nvPr/>
        </p:nvSpPr>
        <p:spPr>
          <a:xfrm>
            <a:off x="8732520" y="2194560"/>
            <a:ext cx="2852928" cy="3840480"/>
          </a:xfrm>
          <a:prstGeom prst="rect">
            <a:avLst/>
          </a:prstGeom>
          <a:solidFill>
            <a:srgbClr val="E3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0" y="2395728"/>
            <a:ext cx="2468880" cy="201168"/>
          </a:xfrm>
          <a:prstGeom prst="rect">
            <a:avLst/>
          </a:prstGeom>
          <a:noFill/>
        </p:spPr>
        <p:txBody>
          <a:bodyPr wrap="square" lIns="0" rIns="0" tIns="0" bIns="0" anchor="t">
            <a:spAutoFit/>
          </a:bodyPr>
          <a:lstStyle/>
          <a:p>
            <a:pPr algn="l"/>
            <a:r>
              <a:rPr sz="1050" spc="150">
                <a:solidFill>
                  <a:srgbClr val="2A3A43"/>
                </a:solidFill>
                <a:latin typeface="Segoe UI Semibold"/>
              </a:rPr>
              <a:t>SEARCH SIDE-FLOW</a:t>
            </a:r>
          </a:p>
        </p:txBody>
      </p:sp>
      <p:sp>
        <p:nvSpPr>
          <p:cNvPr id="8" name="TextBox 7"/>
          <p:cNvSpPr txBox="1"/>
          <p:nvPr/>
        </p:nvSpPr>
        <p:spPr>
          <a:xfrm>
            <a:off x="8961120" y="2743200"/>
            <a:ext cx="2468880" cy="274320"/>
          </a:xfrm>
          <a:prstGeom prst="rect">
            <a:avLst/>
          </a:prstGeom>
          <a:noFill/>
        </p:spPr>
        <p:txBody>
          <a:bodyPr wrap="square" lIns="0" rIns="0" tIns="0" bIns="0" anchor="t">
            <a:spAutoFit/>
          </a:bodyPr>
          <a:lstStyle/>
          <a:p>
            <a:pPr algn="l"/>
            <a:r>
              <a:rPr sz="1500">
                <a:solidFill>
                  <a:srgbClr val="0F1E26"/>
                </a:solidFill>
                <a:latin typeface="Segoe UI Semibold"/>
              </a:rPr>
              <a:t>Enter key</a:t>
            </a:r>
          </a:p>
        </p:txBody>
      </p:sp>
      <p:sp>
        <p:nvSpPr>
          <p:cNvPr id="9" name="TextBox 8"/>
          <p:cNvSpPr txBox="1"/>
          <p:nvPr/>
        </p:nvSpPr>
        <p:spPr>
          <a:xfrm>
            <a:off x="8961120" y="3054096"/>
            <a:ext cx="2468880" cy="256032"/>
          </a:xfrm>
          <a:prstGeom prst="rect">
            <a:avLst/>
          </a:prstGeom>
          <a:noFill/>
        </p:spPr>
        <p:txBody>
          <a:bodyPr wrap="square" lIns="0" rIns="0" tIns="0" bIns="0" anchor="t">
            <a:spAutoFit/>
          </a:bodyPr>
          <a:lstStyle/>
          <a:p>
            <a:pPr algn="l"/>
            <a:r>
              <a:rPr sz="1300">
                <a:solidFill>
                  <a:srgbClr val="1F5FBF"/>
                </a:solidFill>
                <a:latin typeface="Segoe UI"/>
              </a:rPr>
              <a:t>↓</a:t>
            </a:r>
          </a:p>
        </p:txBody>
      </p:sp>
      <p:sp>
        <p:nvSpPr>
          <p:cNvPr id="10" name="TextBox 9"/>
          <p:cNvSpPr txBox="1"/>
          <p:nvPr/>
        </p:nvSpPr>
        <p:spPr>
          <a:xfrm>
            <a:off x="8961120" y="3364991"/>
            <a:ext cx="2468880" cy="274320"/>
          </a:xfrm>
          <a:prstGeom prst="rect">
            <a:avLst/>
          </a:prstGeom>
          <a:noFill/>
        </p:spPr>
        <p:txBody>
          <a:bodyPr wrap="square" lIns="0" rIns="0" tIns="0" bIns="0" anchor="t">
            <a:spAutoFit/>
          </a:bodyPr>
          <a:lstStyle/>
          <a:p>
            <a:pPr algn="l"/>
            <a:r>
              <a:rPr sz="1500">
                <a:solidFill>
                  <a:srgbClr val="0F1E26"/>
                </a:solidFill>
                <a:latin typeface="Segoe UI Semibold"/>
              </a:rPr>
              <a:t>Start at root</a:t>
            </a:r>
          </a:p>
        </p:txBody>
      </p:sp>
      <p:sp>
        <p:nvSpPr>
          <p:cNvPr id="11" name="TextBox 10"/>
          <p:cNvSpPr txBox="1"/>
          <p:nvPr/>
        </p:nvSpPr>
        <p:spPr>
          <a:xfrm>
            <a:off x="8961120" y="3675888"/>
            <a:ext cx="2468880" cy="256032"/>
          </a:xfrm>
          <a:prstGeom prst="rect">
            <a:avLst/>
          </a:prstGeom>
          <a:noFill/>
        </p:spPr>
        <p:txBody>
          <a:bodyPr wrap="square" lIns="0" rIns="0" tIns="0" bIns="0" anchor="t">
            <a:spAutoFit/>
          </a:bodyPr>
          <a:lstStyle/>
          <a:p>
            <a:pPr algn="l"/>
            <a:r>
              <a:rPr sz="1300">
                <a:solidFill>
                  <a:srgbClr val="1F5FBF"/>
                </a:solidFill>
                <a:latin typeface="Segoe UI"/>
              </a:rPr>
              <a:t>↓</a:t>
            </a:r>
          </a:p>
        </p:txBody>
      </p:sp>
      <p:sp>
        <p:nvSpPr>
          <p:cNvPr id="12" name="TextBox 11"/>
          <p:cNvSpPr txBox="1"/>
          <p:nvPr/>
        </p:nvSpPr>
        <p:spPr>
          <a:xfrm>
            <a:off x="8961120" y="3986784"/>
            <a:ext cx="2468880" cy="274320"/>
          </a:xfrm>
          <a:prstGeom prst="rect">
            <a:avLst/>
          </a:prstGeom>
          <a:noFill/>
        </p:spPr>
        <p:txBody>
          <a:bodyPr wrap="square" lIns="0" rIns="0" tIns="0" bIns="0" anchor="t">
            <a:spAutoFit/>
          </a:bodyPr>
          <a:lstStyle/>
          <a:p>
            <a:pPr algn="l"/>
            <a:r>
              <a:rPr sz="1500">
                <a:solidFill>
                  <a:srgbClr val="0F1E26"/>
                </a:solidFill>
                <a:latin typeface="Segoe UI Semibold"/>
              </a:rPr>
              <a:t>Compare, go left / right</a:t>
            </a:r>
          </a:p>
        </p:txBody>
      </p:sp>
      <p:sp>
        <p:nvSpPr>
          <p:cNvPr id="13" name="TextBox 12"/>
          <p:cNvSpPr txBox="1"/>
          <p:nvPr/>
        </p:nvSpPr>
        <p:spPr>
          <a:xfrm>
            <a:off x="8961120" y="4297680"/>
            <a:ext cx="2468880" cy="256032"/>
          </a:xfrm>
          <a:prstGeom prst="rect">
            <a:avLst/>
          </a:prstGeom>
          <a:noFill/>
        </p:spPr>
        <p:txBody>
          <a:bodyPr wrap="square" lIns="0" rIns="0" tIns="0" bIns="0" anchor="t">
            <a:spAutoFit/>
          </a:bodyPr>
          <a:lstStyle/>
          <a:p>
            <a:pPr algn="l"/>
            <a:r>
              <a:rPr sz="1300">
                <a:solidFill>
                  <a:srgbClr val="1F5FBF"/>
                </a:solidFill>
                <a:latin typeface="Segoe UI"/>
              </a:rPr>
              <a:t>↓</a:t>
            </a:r>
          </a:p>
        </p:txBody>
      </p:sp>
      <p:sp>
        <p:nvSpPr>
          <p:cNvPr id="14" name="TextBox 13"/>
          <p:cNvSpPr txBox="1"/>
          <p:nvPr/>
        </p:nvSpPr>
        <p:spPr>
          <a:xfrm>
            <a:off x="8961120" y="4608576"/>
            <a:ext cx="2468880" cy="274320"/>
          </a:xfrm>
          <a:prstGeom prst="rect">
            <a:avLst/>
          </a:prstGeom>
          <a:noFill/>
        </p:spPr>
        <p:txBody>
          <a:bodyPr wrap="square" lIns="0" rIns="0" tIns="0" bIns="0" anchor="t">
            <a:spAutoFit/>
          </a:bodyPr>
          <a:lstStyle/>
          <a:p>
            <a:pPr algn="l"/>
            <a:r>
              <a:rPr sz="1500">
                <a:solidFill>
                  <a:srgbClr val="0F1E26"/>
                </a:solidFill>
                <a:latin typeface="Segoe UI Semibold"/>
              </a:rPr>
              <a:t>Highlight path</a:t>
            </a:r>
          </a:p>
        </p:txBody>
      </p:sp>
      <p:sp>
        <p:nvSpPr>
          <p:cNvPr id="15" name="TextBox 14"/>
          <p:cNvSpPr txBox="1"/>
          <p:nvPr/>
        </p:nvSpPr>
        <p:spPr>
          <a:xfrm>
            <a:off x="8961120" y="4919472"/>
            <a:ext cx="2468880" cy="256032"/>
          </a:xfrm>
          <a:prstGeom prst="rect">
            <a:avLst/>
          </a:prstGeom>
          <a:noFill/>
        </p:spPr>
        <p:txBody>
          <a:bodyPr wrap="square" lIns="0" rIns="0" tIns="0" bIns="0" anchor="t">
            <a:spAutoFit/>
          </a:bodyPr>
          <a:lstStyle/>
          <a:p>
            <a:pPr algn="l"/>
            <a:r>
              <a:rPr sz="1300">
                <a:solidFill>
                  <a:srgbClr val="1F5FBF"/>
                </a:solidFill>
                <a:latin typeface="Segoe UI"/>
              </a:rPr>
              <a:t>↓</a:t>
            </a:r>
          </a:p>
        </p:txBody>
      </p:sp>
      <p:sp>
        <p:nvSpPr>
          <p:cNvPr id="16" name="TextBox 15"/>
          <p:cNvSpPr txBox="1"/>
          <p:nvPr/>
        </p:nvSpPr>
        <p:spPr>
          <a:xfrm>
            <a:off x="8961120" y="5230368"/>
            <a:ext cx="2468880" cy="274320"/>
          </a:xfrm>
          <a:prstGeom prst="rect">
            <a:avLst/>
          </a:prstGeom>
          <a:noFill/>
        </p:spPr>
        <p:txBody>
          <a:bodyPr wrap="square" lIns="0" rIns="0" tIns="0" bIns="0" anchor="t">
            <a:spAutoFit/>
          </a:bodyPr>
          <a:lstStyle/>
          <a:p>
            <a:pPr algn="l"/>
            <a:r>
              <a:rPr sz="1500">
                <a:solidFill>
                  <a:srgbClr val="0F1E26"/>
                </a:solidFill>
                <a:latin typeface="Segoe UI Semibold"/>
              </a:rPr>
              <a:t>Show comparisons</a:t>
            </a:r>
          </a:p>
        </p:txBody>
      </p:sp>
      <p:sp>
        <p:nvSpPr>
          <p:cNvPr id="17"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WORKED EXAMPLE</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Keys 10, 20, 30, 40 with Frequencies 4, 2, 6, 3</a:t>
            </a:r>
          </a:p>
        </p:txBody>
      </p:sp>
      <p:sp>
        <p:nvSpPr>
          <p:cNvPr id="4" name="TextBox 3"/>
          <p:cNvSpPr txBox="1"/>
          <p:nvPr/>
        </p:nvSpPr>
        <p:spPr>
          <a:xfrm>
            <a:off x="612648" y="1536192"/>
            <a:ext cx="10972800" cy="365760"/>
          </a:xfrm>
          <a:prstGeom prst="rect">
            <a:avLst/>
          </a:prstGeom>
          <a:noFill/>
        </p:spPr>
        <p:txBody>
          <a:bodyPr wrap="square" lIns="0" rIns="0" tIns="0" bIns="0" anchor="t">
            <a:spAutoFit/>
          </a:bodyPr>
          <a:lstStyle/>
          <a:p>
            <a:pPr algn="l"/>
            <a:r>
              <a:rPr sz="1600">
                <a:solidFill>
                  <a:srgbClr val="55656E"/>
                </a:solidFill>
                <a:latin typeface="Segoe UI"/>
              </a:rPr>
              <a:t>Values from our backend solver, identical to the hand calculation in our documentation.</a:t>
            </a:r>
          </a:p>
        </p:txBody>
      </p:sp>
      <p:sp>
        <p:nvSpPr>
          <p:cNvPr id="5" name="TextBox 4"/>
          <p:cNvSpPr txBox="1"/>
          <p:nvPr/>
        </p:nvSpPr>
        <p:spPr>
          <a:xfrm>
            <a:off x="612648" y="2148840"/>
            <a:ext cx="2560320" cy="640080"/>
          </a:xfrm>
          <a:prstGeom prst="rect">
            <a:avLst/>
          </a:prstGeom>
          <a:noFill/>
        </p:spPr>
        <p:txBody>
          <a:bodyPr wrap="square" lIns="0" rIns="0" tIns="0" bIns="0" anchor="t">
            <a:spAutoFit/>
          </a:bodyPr>
          <a:lstStyle/>
          <a:p>
            <a:pPr algn="l"/>
            <a:r>
              <a:rPr sz="4000">
                <a:solidFill>
                  <a:srgbClr val="1F5FBF"/>
                </a:solidFill>
                <a:latin typeface="Segoe UI Light"/>
              </a:rPr>
              <a:t>26</a:t>
            </a:r>
          </a:p>
        </p:txBody>
      </p:sp>
      <p:sp>
        <p:nvSpPr>
          <p:cNvPr id="6" name="TextBox 5"/>
          <p:cNvSpPr txBox="1"/>
          <p:nvPr/>
        </p:nvSpPr>
        <p:spPr>
          <a:xfrm>
            <a:off x="612648" y="2834640"/>
            <a:ext cx="2560320" cy="228600"/>
          </a:xfrm>
          <a:prstGeom prst="rect">
            <a:avLst/>
          </a:prstGeom>
          <a:noFill/>
        </p:spPr>
        <p:txBody>
          <a:bodyPr wrap="square" lIns="0" rIns="0" tIns="0" bIns="0" anchor="t">
            <a:spAutoFit/>
          </a:bodyPr>
          <a:lstStyle/>
          <a:p>
            <a:pPr algn="l"/>
            <a:r>
              <a:rPr sz="1300">
                <a:solidFill>
                  <a:srgbClr val="0F1E26"/>
                </a:solidFill>
                <a:latin typeface="Segoe UI Semibold"/>
              </a:rPr>
              <a:t>Minimum cost</a:t>
            </a:r>
          </a:p>
        </p:txBody>
      </p:sp>
      <p:sp>
        <p:nvSpPr>
          <p:cNvPr id="7" name="TextBox 6"/>
          <p:cNvSpPr txBox="1"/>
          <p:nvPr/>
        </p:nvSpPr>
        <p:spPr>
          <a:xfrm>
            <a:off x="612648" y="3081528"/>
            <a:ext cx="2560320" cy="228600"/>
          </a:xfrm>
          <a:prstGeom prst="rect">
            <a:avLst/>
          </a:prstGeom>
          <a:noFill/>
        </p:spPr>
        <p:txBody>
          <a:bodyPr wrap="square" lIns="0" rIns="0" tIns="0" bIns="0" anchor="t">
            <a:spAutoFit/>
          </a:bodyPr>
          <a:lstStyle/>
          <a:p>
            <a:pPr algn="l"/>
            <a:r>
              <a:rPr sz="1150">
                <a:solidFill>
                  <a:srgbClr val="55656E"/>
                </a:solidFill>
                <a:latin typeface="Segoe UI"/>
              </a:rPr>
              <a:t>C[0][4]</a:t>
            </a:r>
          </a:p>
        </p:txBody>
      </p:sp>
      <p:sp>
        <p:nvSpPr>
          <p:cNvPr id="8" name="TextBox 7"/>
          <p:cNvSpPr txBox="1"/>
          <p:nvPr/>
        </p:nvSpPr>
        <p:spPr>
          <a:xfrm>
            <a:off x="3310128" y="2148840"/>
            <a:ext cx="2560320" cy="640080"/>
          </a:xfrm>
          <a:prstGeom prst="rect">
            <a:avLst/>
          </a:prstGeom>
          <a:noFill/>
        </p:spPr>
        <p:txBody>
          <a:bodyPr wrap="square" lIns="0" rIns="0" tIns="0" bIns="0" anchor="t">
            <a:spAutoFit/>
          </a:bodyPr>
          <a:lstStyle/>
          <a:p>
            <a:pPr algn="l"/>
            <a:r>
              <a:rPr sz="4000">
                <a:solidFill>
                  <a:srgbClr val="1F5FBF"/>
                </a:solidFill>
                <a:latin typeface="Segoe UI Light"/>
              </a:rPr>
              <a:t>15</a:t>
            </a:r>
          </a:p>
        </p:txBody>
      </p:sp>
      <p:sp>
        <p:nvSpPr>
          <p:cNvPr id="9" name="TextBox 8"/>
          <p:cNvSpPr txBox="1"/>
          <p:nvPr/>
        </p:nvSpPr>
        <p:spPr>
          <a:xfrm>
            <a:off x="3310128" y="2834640"/>
            <a:ext cx="2560320" cy="228600"/>
          </a:xfrm>
          <a:prstGeom prst="rect">
            <a:avLst/>
          </a:prstGeom>
          <a:noFill/>
        </p:spPr>
        <p:txBody>
          <a:bodyPr wrap="square" lIns="0" rIns="0" tIns="0" bIns="0" anchor="t">
            <a:spAutoFit/>
          </a:bodyPr>
          <a:lstStyle/>
          <a:p>
            <a:pPr algn="l"/>
            <a:r>
              <a:rPr sz="1300">
                <a:solidFill>
                  <a:srgbClr val="0F1E26"/>
                </a:solidFill>
                <a:latin typeface="Segoe UI Semibold"/>
              </a:rPr>
              <a:t>Total frequency</a:t>
            </a:r>
          </a:p>
        </p:txBody>
      </p:sp>
      <p:sp>
        <p:nvSpPr>
          <p:cNvPr id="10" name="TextBox 9"/>
          <p:cNvSpPr txBox="1"/>
          <p:nvPr/>
        </p:nvSpPr>
        <p:spPr>
          <a:xfrm>
            <a:off x="3310128" y="3081528"/>
            <a:ext cx="2560320" cy="228600"/>
          </a:xfrm>
          <a:prstGeom prst="rect">
            <a:avLst/>
          </a:prstGeom>
          <a:noFill/>
        </p:spPr>
        <p:txBody>
          <a:bodyPr wrap="square" lIns="0" rIns="0" tIns="0" bIns="0" anchor="t">
            <a:spAutoFit/>
          </a:bodyPr>
          <a:lstStyle/>
          <a:p>
            <a:pPr algn="l"/>
            <a:r>
              <a:rPr sz="1150">
                <a:solidFill>
                  <a:srgbClr val="55656E"/>
                </a:solidFill>
                <a:latin typeface="Segoe UI"/>
              </a:rPr>
              <a:t>W[0][4]</a:t>
            </a:r>
          </a:p>
        </p:txBody>
      </p:sp>
      <p:sp>
        <p:nvSpPr>
          <p:cNvPr id="11" name="TextBox 10"/>
          <p:cNvSpPr txBox="1"/>
          <p:nvPr/>
        </p:nvSpPr>
        <p:spPr>
          <a:xfrm>
            <a:off x="612648" y="3474720"/>
            <a:ext cx="2560320" cy="640080"/>
          </a:xfrm>
          <a:prstGeom prst="rect">
            <a:avLst/>
          </a:prstGeom>
          <a:noFill/>
        </p:spPr>
        <p:txBody>
          <a:bodyPr wrap="square" lIns="0" rIns="0" tIns="0" bIns="0" anchor="t">
            <a:spAutoFit/>
          </a:bodyPr>
          <a:lstStyle/>
          <a:p>
            <a:pPr algn="l"/>
            <a:r>
              <a:rPr sz="4000">
                <a:solidFill>
                  <a:srgbClr val="1F5FBF"/>
                </a:solidFill>
                <a:latin typeface="Segoe UI Light"/>
              </a:rPr>
              <a:t>1.7333</a:t>
            </a:r>
          </a:p>
        </p:txBody>
      </p:sp>
      <p:sp>
        <p:nvSpPr>
          <p:cNvPr id="12" name="TextBox 11"/>
          <p:cNvSpPr txBox="1"/>
          <p:nvPr/>
        </p:nvSpPr>
        <p:spPr>
          <a:xfrm>
            <a:off x="612648" y="4160520"/>
            <a:ext cx="2560320" cy="228600"/>
          </a:xfrm>
          <a:prstGeom prst="rect">
            <a:avLst/>
          </a:prstGeom>
          <a:noFill/>
        </p:spPr>
        <p:txBody>
          <a:bodyPr wrap="square" lIns="0" rIns="0" tIns="0" bIns="0" anchor="t">
            <a:spAutoFit/>
          </a:bodyPr>
          <a:lstStyle/>
          <a:p>
            <a:pPr algn="l"/>
            <a:r>
              <a:rPr sz="1300">
                <a:solidFill>
                  <a:srgbClr val="0F1E26"/>
                </a:solidFill>
                <a:latin typeface="Segoe UI Semibold"/>
              </a:rPr>
              <a:t>Expected search cost</a:t>
            </a:r>
          </a:p>
        </p:txBody>
      </p:sp>
      <p:sp>
        <p:nvSpPr>
          <p:cNvPr id="13" name="TextBox 12"/>
          <p:cNvSpPr txBox="1"/>
          <p:nvPr/>
        </p:nvSpPr>
        <p:spPr>
          <a:xfrm>
            <a:off x="612648" y="4407408"/>
            <a:ext cx="2560320" cy="228600"/>
          </a:xfrm>
          <a:prstGeom prst="rect">
            <a:avLst/>
          </a:prstGeom>
          <a:noFill/>
        </p:spPr>
        <p:txBody>
          <a:bodyPr wrap="square" lIns="0" rIns="0" tIns="0" bIns="0" anchor="t">
            <a:spAutoFit/>
          </a:bodyPr>
          <a:lstStyle/>
          <a:p>
            <a:pPr algn="l"/>
            <a:r>
              <a:rPr sz="1150">
                <a:solidFill>
                  <a:srgbClr val="55656E"/>
                </a:solidFill>
                <a:latin typeface="Segoe UI"/>
              </a:rPr>
              <a:t>26 / 15</a:t>
            </a:r>
          </a:p>
        </p:txBody>
      </p:sp>
      <p:sp>
        <p:nvSpPr>
          <p:cNvPr id="14" name="TextBox 13"/>
          <p:cNvSpPr txBox="1"/>
          <p:nvPr/>
        </p:nvSpPr>
        <p:spPr>
          <a:xfrm>
            <a:off x="3310128" y="3474720"/>
            <a:ext cx="2560320" cy="640080"/>
          </a:xfrm>
          <a:prstGeom prst="rect">
            <a:avLst/>
          </a:prstGeom>
          <a:noFill/>
        </p:spPr>
        <p:txBody>
          <a:bodyPr wrap="square" lIns="0" rIns="0" tIns="0" bIns="0" anchor="t">
            <a:spAutoFit/>
          </a:bodyPr>
          <a:lstStyle/>
          <a:p>
            <a:pPr algn="l"/>
            <a:r>
              <a:rPr sz="4000">
                <a:solidFill>
                  <a:srgbClr val="1F5FBF"/>
                </a:solidFill>
                <a:latin typeface="Segoe UI Light"/>
              </a:rPr>
              <a:t>30</a:t>
            </a:r>
          </a:p>
        </p:txBody>
      </p:sp>
      <p:sp>
        <p:nvSpPr>
          <p:cNvPr id="15" name="TextBox 14"/>
          <p:cNvSpPr txBox="1"/>
          <p:nvPr/>
        </p:nvSpPr>
        <p:spPr>
          <a:xfrm>
            <a:off x="3310128" y="4160520"/>
            <a:ext cx="2560320" cy="228600"/>
          </a:xfrm>
          <a:prstGeom prst="rect">
            <a:avLst/>
          </a:prstGeom>
          <a:noFill/>
        </p:spPr>
        <p:txBody>
          <a:bodyPr wrap="square" lIns="0" rIns="0" tIns="0" bIns="0" anchor="t">
            <a:spAutoFit/>
          </a:bodyPr>
          <a:lstStyle/>
          <a:p>
            <a:pPr algn="l"/>
            <a:r>
              <a:rPr sz="1300">
                <a:solidFill>
                  <a:srgbClr val="0F1E26"/>
                </a:solidFill>
                <a:latin typeface="Segoe UI Semibold"/>
              </a:rPr>
              <a:t>Root of the tree</a:t>
            </a:r>
          </a:p>
        </p:txBody>
      </p:sp>
      <p:sp>
        <p:nvSpPr>
          <p:cNvPr id="16" name="TextBox 15"/>
          <p:cNvSpPr txBox="1"/>
          <p:nvPr/>
        </p:nvSpPr>
        <p:spPr>
          <a:xfrm>
            <a:off x="3310128" y="4407408"/>
            <a:ext cx="2560320" cy="228600"/>
          </a:xfrm>
          <a:prstGeom prst="rect">
            <a:avLst/>
          </a:prstGeom>
          <a:noFill/>
        </p:spPr>
        <p:txBody>
          <a:bodyPr wrap="square" lIns="0" rIns="0" tIns="0" bIns="0" anchor="t">
            <a:spAutoFit/>
          </a:bodyPr>
          <a:lstStyle/>
          <a:p>
            <a:pPr algn="l"/>
            <a:r>
              <a:rPr sz="1150">
                <a:solidFill>
                  <a:srgbClr val="55656E"/>
                </a:solidFill>
                <a:latin typeface="Segoe UI"/>
              </a:rPr>
              <a:t>R[0][4] = 3 → key 30</a:t>
            </a:r>
          </a:p>
        </p:txBody>
      </p:sp>
      <p:sp>
        <p:nvSpPr>
          <p:cNvPr id="17" name="Comparison box"/>
          <p:cNvSpPr/>
          <p:nvPr/>
        </p:nvSpPr>
        <p:spPr>
          <a:xfrm>
            <a:off x="612648" y="4892040"/>
            <a:ext cx="5166360" cy="1188720"/>
          </a:xfrm>
          <a:prstGeom prst="rect">
            <a:avLst/>
          </a:prstGeom>
          <a:solidFill>
            <a:srgbClr val="E3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056632"/>
            <a:ext cx="4754880" cy="201168"/>
          </a:xfrm>
          <a:prstGeom prst="rect">
            <a:avLst/>
          </a:prstGeom>
          <a:noFill/>
        </p:spPr>
        <p:txBody>
          <a:bodyPr wrap="square" lIns="0" rIns="0" tIns="0" bIns="0" anchor="t">
            <a:spAutoFit/>
          </a:bodyPr>
          <a:lstStyle/>
          <a:p>
            <a:pPr algn="l"/>
            <a:r>
              <a:rPr sz="1050" spc="150">
                <a:solidFill>
                  <a:srgbClr val="2A3A43"/>
                </a:solidFill>
                <a:latin typeface="Segoe UI Semibold"/>
              </a:rPr>
              <a:t>COMPARISON</a:t>
            </a:r>
          </a:p>
        </p:txBody>
      </p:sp>
      <p:sp>
        <p:nvSpPr>
          <p:cNvPr id="19" name="TextBox 18"/>
          <p:cNvSpPr txBox="1"/>
          <p:nvPr/>
        </p:nvSpPr>
        <p:spPr>
          <a:xfrm>
            <a:off x="841248" y="5349240"/>
            <a:ext cx="4754880" cy="640080"/>
          </a:xfrm>
          <a:prstGeom prst="rect">
            <a:avLst/>
          </a:prstGeom>
          <a:noFill/>
        </p:spPr>
        <p:txBody>
          <a:bodyPr wrap="square" lIns="0" rIns="0" tIns="0" bIns="0" anchor="t">
            <a:spAutoFit/>
          </a:bodyPr>
          <a:lstStyle/>
          <a:p>
            <a:pPr algn="l"/>
            <a:r>
              <a:rPr sz="1300">
                <a:solidFill>
                  <a:srgbClr val="0F1E26"/>
                </a:solidFill>
                <a:latin typeface="Segoe UI Semibold"/>
              </a:rPr>
              <a:t>Balanced BST (root 20): </a:t>
            </a:r>
            <a:r>
              <a:rPr sz="1300">
                <a:solidFill>
                  <a:srgbClr val="2A3A43"/>
                </a:solidFill>
                <a:latin typeface="Segoe UI"/>
              </a:rPr>
              <a:t>2×1 + 4×2 + 6×2 + 3×3 = 31, about 19% more than the optimal 26.</a:t>
            </a:r>
          </a:p>
        </p:txBody>
      </p:sp>
      <p:sp>
        <p:nvSpPr>
          <p:cNvPr id="20" name="Rectangle 19"/>
          <p:cNvSpPr/>
          <p:nvPr/>
        </p:nvSpPr>
        <p:spPr>
          <a:xfrm>
            <a:off x="6144768" y="2148840"/>
            <a:ext cx="10972" cy="3931920"/>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2404872"/>
            <a:ext cx="822960" cy="228600"/>
          </a:xfrm>
          <a:prstGeom prst="rect">
            <a:avLst/>
          </a:prstGeom>
          <a:noFill/>
        </p:spPr>
        <p:txBody>
          <a:bodyPr wrap="square" lIns="0" rIns="0" tIns="0" bIns="0" anchor="t">
            <a:spAutoFit/>
          </a:bodyPr>
          <a:lstStyle/>
          <a:p>
            <a:pPr algn="l"/>
            <a:r>
              <a:rPr sz="1100">
                <a:solidFill>
                  <a:srgbClr val="55656E"/>
                </a:solidFill>
                <a:latin typeface="Segoe UI"/>
              </a:rPr>
              <a:t>Depth 1</a:t>
            </a:r>
          </a:p>
        </p:txBody>
      </p:sp>
      <p:sp>
        <p:nvSpPr>
          <p:cNvPr id="22" name="Rectangle 21"/>
          <p:cNvSpPr/>
          <p:nvPr/>
        </p:nvSpPr>
        <p:spPr>
          <a:xfrm>
            <a:off x="7178040" y="2514600"/>
            <a:ext cx="4407408" cy="9144"/>
          </a:xfrm>
          <a:prstGeom prst="rect">
            <a:avLst/>
          </a:prstGeom>
          <a:solidFill>
            <a:srgbClr val="DC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502152"/>
            <a:ext cx="822960" cy="228600"/>
          </a:xfrm>
          <a:prstGeom prst="rect">
            <a:avLst/>
          </a:prstGeom>
          <a:noFill/>
        </p:spPr>
        <p:txBody>
          <a:bodyPr wrap="square" lIns="0" rIns="0" tIns="0" bIns="0" anchor="t">
            <a:spAutoFit/>
          </a:bodyPr>
          <a:lstStyle/>
          <a:p>
            <a:pPr algn="l"/>
            <a:r>
              <a:rPr sz="1100">
                <a:solidFill>
                  <a:srgbClr val="55656E"/>
                </a:solidFill>
                <a:latin typeface="Segoe UI"/>
              </a:rPr>
              <a:t>Depth 2</a:t>
            </a:r>
          </a:p>
        </p:txBody>
      </p:sp>
      <p:sp>
        <p:nvSpPr>
          <p:cNvPr id="24" name="Rectangle 23"/>
          <p:cNvSpPr/>
          <p:nvPr/>
        </p:nvSpPr>
        <p:spPr>
          <a:xfrm>
            <a:off x="7178040" y="3611880"/>
            <a:ext cx="4407408" cy="9144"/>
          </a:xfrm>
          <a:prstGeom prst="rect">
            <a:avLst/>
          </a:prstGeom>
          <a:solidFill>
            <a:srgbClr val="DC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599432"/>
            <a:ext cx="822960" cy="228600"/>
          </a:xfrm>
          <a:prstGeom prst="rect">
            <a:avLst/>
          </a:prstGeom>
          <a:noFill/>
        </p:spPr>
        <p:txBody>
          <a:bodyPr wrap="square" lIns="0" rIns="0" tIns="0" bIns="0" anchor="t">
            <a:spAutoFit/>
          </a:bodyPr>
          <a:lstStyle/>
          <a:p>
            <a:pPr algn="l"/>
            <a:r>
              <a:rPr sz="1100">
                <a:solidFill>
                  <a:srgbClr val="55656E"/>
                </a:solidFill>
                <a:latin typeface="Segoe UI"/>
              </a:rPr>
              <a:t>Depth 3</a:t>
            </a:r>
          </a:p>
        </p:txBody>
      </p:sp>
      <p:sp>
        <p:nvSpPr>
          <p:cNvPr id="26" name="Rectangle 25"/>
          <p:cNvSpPr/>
          <p:nvPr/>
        </p:nvSpPr>
        <p:spPr>
          <a:xfrm>
            <a:off x="7178040" y="4709160"/>
            <a:ext cx="4407408" cy="9144"/>
          </a:xfrm>
          <a:prstGeom prst="rect">
            <a:avLst/>
          </a:prstGeom>
          <a:solidFill>
            <a:srgbClr val="DC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H="1">
            <a:off x="8001000" y="2514600"/>
            <a:ext cx="1463040" cy="1097280"/>
          </a:xfrm>
          <a:prstGeom prst="line">
            <a:avLst/>
          </a:prstGeom>
          <a:ln w="19050">
            <a:solidFill>
              <a:srgbClr val="8A97A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464040" y="2514600"/>
            <a:ext cx="1463040" cy="1097280"/>
          </a:xfrm>
          <a:prstGeom prst="line">
            <a:avLst/>
          </a:prstGeom>
          <a:ln w="19050">
            <a:solidFill>
              <a:srgbClr val="8A97A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001000" y="3611880"/>
            <a:ext cx="731520" cy="1097280"/>
          </a:xfrm>
          <a:prstGeom prst="line">
            <a:avLst/>
          </a:prstGeom>
          <a:ln w="19050">
            <a:solidFill>
              <a:srgbClr val="8A97A6"/>
            </a:solidFill>
          </a:ln>
        </p:spPr>
        <p:style>
          <a:lnRef idx="2">
            <a:schemeClr val="accent1"/>
          </a:lnRef>
          <a:fillRef idx="0">
            <a:schemeClr val="accent1"/>
          </a:fillRef>
          <a:effectRef idx="1">
            <a:schemeClr val="accent1"/>
          </a:effectRef>
          <a:fontRef idx="minor">
            <a:schemeClr val="tx1"/>
          </a:fontRef>
        </p:style>
      </p:cxnSp>
      <p:sp>
        <p:nvSpPr>
          <p:cNvPr id="30" name="Node 30"/>
          <p:cNvSpPr/>
          <p:nvPr/>
        </p:nvSpPr>
        <p:spPr>
          <a:xfrm>
            <a:off x="9153144" y="2203704"/>
            <a:ext cx="621792" cy="621792"/>
          </a:xfrm>
          <a:prstGeom prst="ellipse">
            <a:avLst/>
          </a:prstGeom>
          <a:solidFill>
            <a:srgbClr val="1A4C93"/>
          </a:solidFill>
          <a:ln w="9525">
            <a:solidFill>
              <a:srgbClr val="1E3A6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FFFFFF"/>
                </a:solidFill>
                <a:latin typeface="Segoe UI Semibold"/>
              </a:rPr>
              <a:t>30</a:t>
            </a:r>
          </a:p>
        </p:txBody>
      </p:sp>
      <p:sp>
        <p:nvSpPr>
          <p:cNvPr id="31" name="TextBox 30"/>
          <p:cNvSpPr txBox="1"/>
          <p:nvPr/>
        </p:nvSpPr>
        <p:spPr>
          <a:xfrm>
            <a:off x="9884663" y="2185416"/>
            <a:ext cx="1371600" cy="201168"/>
          </a:xfrm>
          <a:prstGeom prst="rect">
            <a:avLst/>
          </a:prstGeom>
          <a:noFill/>
        </p:spPr>
        <p:txBody>
          <a:bodyPr wrap="square" lIns="0" rIns="0" tIns="0" bIns="0" anchor="t">
            <a:spAutoFit/>
          </a:bodyPr>
          <a:lstStyle/>
          <a:p>
            <a:pPr algn="l"/>
            <a:r>
              <a:rPr sz="1050">
                <a:solidFill>
                  <a:srgbClr val="55656E"/>
                </a:solidFill>
                <a:latin typeface="Segoe UI"/>
              </a:rPr>
              <a:t>f = 6  ·  6 × 1 = 6</a:t>
            </a:r>
          </a:p>
        </p:txBody>
      </p:sp>
      <p:sp>
        <p:nvSpPr>
          <p:cNvPr id="32" name="Node 10"/>
          <p:cNvSpPr/>
          <p:nvPr/>
        </p:nvSpPr>
        <p:spPr>
          <a:xfrm>
            <a:off x="7690104" y="3300984"/>
            <a:ext cx="621792" cy="621792"/>
          </a:xfrm>
          <a:prstGeom prst="ellipse">
            <a:avLst/>
          </a:prstGeom>
          <a:solidFill>
            <a:srgbClr val="347ADB"/>
          </a:solidFill>
          <a:ln w="9525">
            <a:solidFill>
              <a:srgbClr val="1E3A6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FFFFFF"/>
                </a:solidFill>
                <a:latin typeface="Segoe UI Semibold"/>
              </a:rPr>
              <a:t>10</a:t>
            </a:r>
          </a:p>
        </p:txBody>
      </p:sp>
      <p:sp>
        <p:nvSpPr>
          <p:cNvPr id="33" name="TextBox 32"/>
          <p:cNvSpPr txBox="1"/>
          <p:nvPr/>
        </p:nvSpPr>
        <p:spPr>
          <a:xfrm>
            <a:off x="6812280" y="3977639"/>
            <a:ext cx="1371600" cy="201168"/>
          </a:xfrm>
          <a:prstGeom prst="rect">
            <a:avLst/>
          </a:prstGeom>
          <a:noFill/>
        </p:spPr>
        <p:txBody>
          <a:bodyPr wrap="square" lIns="0" rIns="0" tIns="0" bIns="0" anchor="t">
            <a:spAutoFit/>
          </a:bodyPr>
          <a:lstStyle/>
          <a:p>
            <a:pPr algn="ctr"/>
            <a:r>
              <a:rPr sz="1050">
                <a:solidFill>
                  <a:srgbClr val="55656E"/>
                </a:solidFill>
                <a:latin typeface="Segoe UI"/>
              </a:rPr>
              <a:t>f = 4  ·  4 × 2 = 8</a:t>
            </a:r>
          </a:p>
        </p:txBody>
      </p:sp>
      <p:sp>
        <p:nvSpPr>
          <p:cNvPr id="34" name="Node 40"/>
          <p:cNvSpPr/>
          <p:nvPr/>
        </p:nvSpPr>
        <p:spPr>
          <a:xfrm>
            <a:off x="10616184" y="3300984"/>
            <a:ext cx="621792" cy="621792"/>
          </a:xfrm>
          <a:prstGeom prst="ellipse">
            <a:avLst/>
          </a:prstGeom>
          <a:solidFill>
            <a:srgbClr val="5E95E2"/>
          </a:solidFill>
          <a:ln w="9525">
            <a:solidFill>
              <a:srgbClr val="1E3A6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F1E26"/>
                </a:solidFill>
                <a:latin typeface="Segoe UI Semibold"/>
              </a:rPr>
              <a:t>40</a:t>
            </a:r>
          </a:p>
        </p:txBody>
      </p:sp>
      <p:sp>
        <p:nvSpPr>
          <p:cNvPr id="35" name="TextBox 34"/>
          <p:cNvSpPr txBox="1"/>
          <p:nvPr/>
        </p:nvSpPr>
        <p:spPr>
          <a:xfrm>
            <a:off x="10241280" y="3977639"/>
            <a:ext cx="1371600" cy="201168"/>
          </a:xfrm>
          <a:prstGeom prst="rect">
            <a:avLst/>
          </a:prstGeom>
          <a:noFill/>
        </p:spPr>
        <p:txBody>
          <a:bodyPr wrap="square" lIns="0" rIns="0" tIns="0" bIns="0" anchor="t">
            <a:spAutoFit/>
          </a:bodyPr>
          <a:lstStyle/>
          <a:p>
            <a:pPr algn="ctr"/>
            <a:r>
              <a:rPr sz="1050">
                <a:solidFill>
                  <a:srgbClr val="55656E"/>
                </a:solidFill>
                <a:latin typeface="Segoe UI"/>
              </a:rPr>
              <a:t>f = 3  ·  3 × 2 = 6</a:t>
            </a:r>
          </a:p>
        </p:txBody>
      </p:sp>
      <p:sp>
        <p:nvSpPr>
          <p:cNvPr id="36" name="Node 20"/>
          <p:cNvSpPr/>
          <p:nvPr/>
        </p:nvSpPr>
        <p:spPr>
          <a:xfrm>
            <a:off x="8421624" y="4398264"/>
            <a:ext cx="621792" cy="621792"/>
          </a:xfrm>
          <a:prstGeom prst="ellipse">
            <a:avLst/>
          </a:prstGeom>
          <a:solidFill>
            <a:srgbClr val="88B1EA"/>
          </a:solidFill>
          <a:ln w="9525">
            <a:solidFill>
              <a:srgbClr val="1E3A6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F1E26"/>
                </a:solidFill>
                <a:latin typeface="Segoe UI Semibold"/>
              </a:rPr>
              <a:t>20</a:t>
            </a:r>
          </a:p>
        </p:txBody>
      </p:sp>
      <p:sp>
        <p:nvSpPr>
          <p:cNvPr id="37" name="TextBox 36"/>
          <p:cNvSpPr txBox="1"/>
          <p:nvPr/>
        </p:nvSpPr>
        <p:spPr>
          <a:xfrm>
            <a:off x="8046720" y="5074920"/>
            <a:ext cx="1371600" cy="201168"/>
          </a:xfrm>
          <a:prstGeom prst="rect">
            <a:avLst/>
          </a:prstGeom>
          <a:noFill/>
        </p:spPr>
        <p:txBody>
          <a:bodyPr wrap="square" lIns="0" rIns="0" tIns="0" bIns="0" anchor="t">
            <a:spAutoFit/>
          </a:bodyPr>
          <a:lstStyle/>
          <a:p>
            <a:pPr algn="ctr"/>
            <a:r>
              <a:rPr sz="1050">
                <a:solidFill>
                  <a:srgbClr val="55656E"/>
                </a:solidFill>
                <a:latin typeface="Segoe UI"/>
              </a:rPr>
              <a:t>f = 2  ·  2 × 3 = 6</a:t>
            </a:r>
          </a:p>
        </p:txBody>
      </p:sp>
      <p:sp>
        <p:nvSpPr>
          <p:cNvPr id="38" name="TextBox 37"/>
          <p:cNvSpPr txBox="1"/>
          <p:nvPr/>
        </p:nvSpPr>
        <p:spPr>
          <a:xfrm>
            <a:off x="6355080" y="5669280"/>
            <a:ext cx="5212080" cy="274320"/>
          </a:xfrm>
          <a:prstGeom prst="rect">
            <a:avLst/>
          </a:prstGeom>
          <a:noFill/>
        </p:spPr>
        <p:txBody>
          <a:bodyPr wrap="square" lIns="0" rIns="0" tIns="0" bIns="0" anchor="t">
            <a:spAutoFit/>
          </a:bodyPr>
          <a:lstStyle/>
          <a:p>
            <a:pPr algn="ctr"/>
            <a:r>
              <a:rPr sz="1300">
                <a:solidFill>
                  <a:srgbClr val="0F1E26"/>
                </a:solidFill>
                <a:latin typeface="Segoe UI Semibold"/>
              </a:rPr>
              <a:t>Cost check: 6×1 + 4×2 + 3×2 + 2×3 = 26</a:t>
            </a:r>
          </a:p>
        </p:txBody>
      </p:sp>
      <p:sp>
        <p:nvSpPr>
          <p:cNvPr id="39"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RESULTS</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Input, Result and Optimal Tree</a:t>
            </a:r>
          </a:p>
        </p:txBody>
      </p:sp>
      <p:pic>
        <p:nvPicPr>
          <p:cNvPr id="4" name="Picture 3" descr="figure1.png"/>
          <p:cNvPicPr>
            <a:picLocks noChangeAspect="1"/>
          </p:cNvPicPr>
          <p:nvPr/>
        </p:nvPicPr>
        <p:blipFill>
          <a:blip r:embed="rId2"/>
          <a:stretch>
            <a:fillRect/>
          </a:stretch>
        </p:blipFill>
        <p:spPr>
          <a:xfrm>
            <a:off x="2781090" y="1691640"/>
            <a:ext cx="2978314" cy="2148840"/>
          </a:xfrm>
          <a:prstGeom prst="rect">
            <a:avLst/>
          </a:prstGeom>
          <a:ln w="9525">
            <a:solidFill>
              <a:srgbClr val="C9D6DB"/>
            </a:solidFill>
          </a:ln>
        </p:spPr>
      </p:pic>
      <p:sp>
        <p:nvSpPr>
          <p:cNvPr id="5" name="TextBox 4"/>
          <p:cNvSpPr txBox="1"/>
          <p:nvPr/>
        </p:nvSpPr>
        <p:spPr>
          <a:xfrm>
            <a:off x="2781090" y="3913632"/>
            <a:ext cx="2978314" cy="201168"/>
          </a:xfrm>
          <a:prstGeom prst="rect">
            <a:avLst/>
          </a:prstGeom>
          <a:noFill/>
        </p:spPr>
        <p:txBody>
          <a:bodyPr wrap="square" lIns="0" rIns="0" tIns="0" bIns="0" anchor="t">
            <a:spAutoFit/>
          </a:bodyPr>
          <a:lstStyle/>
          <a:p>
            <a:pPr algn="l"/>
            <a:r>
              <a:rPr sz="1050">
                <a:solidFill>
                  <a:srgbClr val="55656E"/>
                </a:solidFill>
                <a:latin typeface="Segoe UI"/>
              </a:rPr>
              <a:t>Figure 1 · Input form with keys and frequencies</a:t>
            </a:r>
          </a:p>
        </p:txBody>
      </p:sp>
      <p:pic>
        <p:nvPicPr>
          <p:cNvPr id="6" name="Picture 5" descr="figure2.png"/>
          <p:cNvPicPr>
            <a:picLocks noChangeAspect="1"/>
          </p:cNvPicPr>
          <p:nvPr/>
        </p:nvPicPr>
        <p:blipFill>
          <a:blip r:embed="rId3"/>
          <a:stretch>
            <a:fillRect/>
          </a:stretch>
        </p:blipFill>
        <p:spPr>
          <a:xfrm>
            <a:off x="6126713" y="1691640"/>
            <a:ext cx="3291372" cy="2148840"/>
          </a:xfrm>
          <a:prstGeom prst="rect">
            <a:avLst/>
          </a:prstGeom>
          <a:ln w="9525">
            <a:solidFill>
              <a:srgbClr val="C9D6DB"/>
            </a:solidFill>
          </a:ln>
        </p:spPr>
      </p:pic>
      <p:sp>
        <p:nvSpPr>
          <p:cNvPr id="7" name="TextBox 6"/>
          <p:cNvSpPr txBox="1"/>
          <p:nvPr/>
        </p:nvSpPr>
        <p:spPr>
          <a:xfrm>
            <a:off x="6126713" y="3913632"/>
            <a:ext cx="3291372" cy="201168"/>
          </a:xfrm>
          <a:prstGeom prst="rect">
            <a:avLst/>
          </a:prstGeom>
          <a:noFill/>
        </p:spPr>
        <p:txBody>
          <a:bodyPr wrap="square" lIns="0" rIns="0" tIns="0" bIns="0" anchor="t">
            <a:spAutoFit/>
          </a:bodyPr>
          <a:lstStyle/>
          <a:p>
            <a:pPr algn="l"/>
            <a:r>
              <a:rPr sz="1050">
                <a:solidFill>
                  <a:srgbClr val="55656E"/>
                </a:solidFill>
                <a:latin typeface="Segoe UI"/>
              </a:rPr>
              <a:t>Figure 2 · Result card showing expected search cost</a:t>
            </a:r>
          </a:p>
        </p:txBody>
      </p:sp>
      <p:pic>
        <p:nvPicPr>
          <p:cNvPr id="8" name="Picture 7" descr="figure3.png"/>
          <p:cNvPicPr>
            <a:picLocks noChangeAspect="1"/>
          </p:cNvPicPr>
          <p:nvPr/>
        </p:nvPicPr>
        <p:blipFill>
          <a:blip r:embed="rId4"/>
          <a:stretch>
            <a:fillRect/>
          </a:stretch>
        </p:blipFill>
        <p:spPr>
          <a:xfrm>
            <a:off x="2925257" y="4206240"/>
            <a:ext cx="6347580" cy="1828800"/>
          </a:xfrm>
          <a:prstGeom prst="rect">
            <a:avLst/>
          </a:prstGeom>
          <a:ln w="9525">
            <a:solidFill>
              <a:srgbClr val="C9D6DB"/>
            </a:solidFill>
          </a:ln>
        </p:spPr>
      </p:pic>
      <p:sp>
        <p:nvSpPr>
          <p:cNvPr id="9" name="TextBox 8"/>
          <p:cNvSpPr txBox="1"/>
          <p:nvPr/>
        </p:nvSpPr>
        <p:spPr>
          <a:xfrm>
            <a:off x="2925257" y="6108192"/>
            <a:ext cx="6347580" cy="201168"/>
          </a:xfrm>
          <a:prstGeom prst="rect">
            <a:avLst/>
          </a:prstGeom>
          <a:noFill/>
        </p:spPr>
        <p:txBody>
          <a:bodyPr wrap="square" lIns="0" rIns="0" tIns="0" bIns="0" anchor="t">
            <a:spAutoFit/>
          </a:bodyPr>
          <a:lstStyle/>
          <a:p>
            <a:pPr algn="l"/>
            <a:r>
              <a:rPr sz="1050">
                <a:solidFill>
                  <a:srgbClr val="55656E"/>
                </a:solidFill>
                <a:latin typeface="Segoe UI"/>
              </a:rPr>
              <a:t>Figure 3 · Optimal tree visualization</a:t>
            </a:r>
          </a:p>
        </p:txBody>
      </p:sp>
      <p:sp>
        <p:nvSpPr>
          <p:cNvPr id="10"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612648"/>
            <a:ext cx="10972800" cy="201168"/>
          </a:xfrm>
          <a:prstGeom prst="rect">
            <a:avLst/>
          </a:prstGeom>
          <a:noFill/>
        </p:spPr>
        <p:txBody>
          <a:bodyPr wrap="square" lIns="0" rIns="0" tIns="0" bIns="0" anchor="t">
            <a:spAutoFit/>
          </a:bodyPr>
          <a:lstStyle/>
          <a:p>
            <a:pPr algn="l"/>
            <a:r>
              <a:rPr sz="1050" spc="150">
                <a:solidFill>
                  <a:srgbClr val="55656E"/>
                </a:solidFill>
                <a:latin typeface="Segoe UI Semibold"/>
              </a:rPr>
              <a:t>RESULTS</a:t>
            </a:r>
          </a:p>
        </p:txBody>
      </p:sp>
      <p:sp>
        <p:nvSpPr>
          <p:cNvPr id="3" name="TextBox 2"/>
          <p:cNvSpPr txBox="1"/>
          <p:nvPr/>
        </p:nvSpPr>
        <p:spPr>
          <a:xfrm>
            <a:off x="612648" y="886968"/>
            <a:ext cx="10972800" cy="594360"/>
          </a:xfrm>
          <a:prstGeom prst="rect">
            <a:avLst/>
          </a:prstGeom>
          <a:noFill/>
        </p:spPr>
        <p:txBody>
          <a:bodyPr wrap="square" lIns="0" rIns="0" tIns="0" bIns="0" anchor="t">
            <a:spAutoFit/>
          </a:bodyPr>
          <a:lstStyle/>
          <a:p>
            <a:pPr algn="l"/>
            <a:r>
              <a:rPr sz="3400">
                <a:solidFill>
                  <a:srgbClr val="0F1E26"/>
                </a:solidFill>
                <a:latin typeface="Segoe UI Light"/>
              </a:rPr>
              <a:t>DP Table, Search and Cost Breakdown</a:t>
            </a:r>
          </a:p>
        </p:txBody>
      </p:sp>
      <p:pic>
        <p:nvPicPr>
          <p:cNvPr id="4" name="Picture 3" descr="figure4.png"/>
          <p:cNvPicPr>
            <a:picLocks noChangeAspect="1"/>
          </p:cNvPicPr>
          <p:nvPr/>
        </p:nvPicPr>
        <p:blipFill>
          <a:blip r:embed="rId2"/>
          <a:stretch>
            <a:fillRect/>
          </a:stretch>
        </p:blipFill>
        <p:spPr>
          <a:xfrm>
            <a:off x="612647" y="1711294"/>
            <a:ext cx="6035040" cy="4075491"/>
          </a:xfrm>
          <a:prstGeom prst="rect">
            <a:avLst/>
          </a:prstGeom>
          <a:ln w="9525">
            <a:solidFill>
              <a:srgbClr val="C9D6DB"/>
            </a:solidFill>
          </a:ln>
        </p:spPr>
      </p:pic>
      <p:sp>
        <p:nvSpPr>
          <p:cNvPr id="5" name="TextBox 4"/>
          <p:cNvSpPr txBox="1"/>
          <p:nvPr/>
        </p:nvSpPr>
        <p:spPr>
          <a:xfrm>
            <a:off x="612647" y="5859937"/>
            <a:ext cx="6035040" cy="201168"/>
          </a:xfrm>
          <a:prstGeom prst="rect">
            <a:avLst/>
          </a:prstGeom>
          <a:noFill/>
        </p:spPr>
        <p:txBody>
          <a:bodyPr wrap="square" lIns="0" rIns="0" tIns="0" bIns="0" anchor="t">
            <a:spAutoFit/>
          </a:bodyPr>
          <a:lstStyle/>
          <a:p>
            <a:pPr algn="l"/>
            <a:r>
              <a:rPr sz="1050">
                <a:solidFill>
                  <a:srgbClr val="55656E"/>
                </a:solidFill>
                <a:latin typeface="Segoe UI"/>
              </a:rPr>
              <a:t>Figure 4 · DP table in course format, cell (0,4) selected</a:t>
            </a:r>
          </a:p>
        </p:txBody>
      </p:sp>
      <p:pic>
        <p:nvPicPr>
          <p:cNvPr id="6" name="Picture 5" descr="figure5.png"/>
          <p:cNvPicPr>
            <a:picLocks noChangeAspect="1"/>
          </p:cNvPicPr>
          <p:nvPr/>
        </p:nvPicPr>
        <p:blipFill>
          <a:blip r:embed="rId3"/>
          <a:stretch>
            <a:fillRect/>
          </a:stretch>
        </p:blipFill>
        <p:spPr>
          <a:xfrm>
            <a:off x="6949440" y="1697067"/>
            <a:ext cx="4636008" cy="2366584"/>
          </a:xfrm>
          <a:prstGeom prst="rect">
            <a:avLst/>
          </a:prstGeom>
          <a:ln w="9525">
            <a:solidFill>
              <a:srgbClr val="C9D6DB"/>
            </a:solidFill>
          </a:ln>
        </p:spPr>
      </p:pic>
      <p:sp>
        <p:nvSpPr>
          <p:cNvPr id="7" name="TextBox 6"/>
          <p:cNvSpPr txBox="1"/>
          <p:nvPr/>
        </p:nvSpPr>
        <p:spPr>
          <a:xfrm>
            <a:off x="6949440" y="4136803"/>
            <a:ext cx="4636008" cy="201168"/>
          </a:xfrm>
          <a:prstGeom prst="rect">
            <a:avLst/>
          </a:prstGeom>
          <a:noFill/>
        </p:spPr>
        <p:txBody>
          <a:bodyPr wrap="square" lIns="0" rIns="0" tIns="0" bIns="0" anchor="t">
            <a:spAutoFit/>
          </a:bodyPr>
          <a:lstStyle/>
          <a:p>
            <a:pPr algn="l"/>
            <a:r>
              <a:rPr sz="1050">
                <a:solidFill>
                  <a:srgbClr val="55656E"/>
                </a:solidFill>
                <a:latin typeface="Segoe UI"/>
              </a:rPr>
              <a:t>Figure 5 · Search simulation for key 20</a:t>
            </a:r>
          </a:p>
        </p:txBody>
      </p:sp>
      <p:pic>
        <p:nvPicPr>
          <p:cNvPr id="8" name="Picture 7" descr="figure6.png"/>
          <p:cNvPicPr>
            <a:picLocks noChangeAspect="1"/>
          </p:cNvPicPr>
          <p:nvPr/>
        </p:nvPicPr>
        <p:blipFill>
          <a:blip r:embed="rId4"/>
          <a:stretch>
            <a:fillRect/>
          </a:stretch>
        </p:blipFill>
        <p:spPr>
          <a:xfrm>
            <a:off x="6949440" y="4448726"/>
            <a:ext cx="4636008" cy="1572426"/>
          </a:xfrm>
          <a:prstGeom prst="rect">
            <a:avLst/>
          </a:prstGeom>
          <a:ln w="9525">
            <a:solidFill>
              <a:srgbClr val="C9D6DB"/>
            </a:solidFill>
          </a:ln>
        </p:spPr>
      </p:pic>
      <p:sp>
        <p:nvSpPr>
          <p:cNvPr id="9" name="TextBox 8"/>
          <p:cNvSpPr txBox="1"/>
          <p:nvPr/>
        </p:nvSpPr>
        <p:spPr>
          <a:xfrm>
            <a:off x="6949440" y="6094304"/>
            <a:ext cx="4636008" cy="201168"/>
          </a:xfrm>
          <a:prstGeom prst="rect">
            <a:avLst/>
          </a:prstGeom>
          <a:noFill/>
        </p:spPr>
        <p:txBody>
          <a:bodyPr wrap="square" lIns="0" rIns="0" tIns="0" bIns="0" anchor="t">
            <a:spAutoFit/>
          </a:bodyPr>
          <a:lstStyle/>
          <a:p>
            <a:pPr algn="l"/>
            <a:r>
              <a:rPr sz="1050">
                <a:solidFill>
                  <a:srgbClr val="55656E"/>
                </a:solidFill>
                <a:latin typeface="Segoe UI"/>
              </a:rPr>
              <a:t>Figure 6 · Minimum cost breakdown table</a:t>
            </a:r>
          </a:p>
        </p:txBody>
      </p:sp>
      <p:sp>
        <p:nvSpPr>
          <p:cNvPr id="10"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1645920"/>
            <a:ext cx="4846320" cy="594360"/>
          </a:xfrm>
          <a:prstGeom prst="rect">
            <a:avLst/>
          </a:prstGeom>
          <a:noFill/>
        </p:spPr>
        <p:txBody>
          <a:bodyPr wrap="square" lIns="0" rIns="0" tIns="0" bIns="0" anchor="t">
            <a:spAutoFit/>
          </a:bodyPr>
          <a:lstStyle/>
          <a:p>
            <a:pPr algn="l"/>
            <a:r>
              <a:rPr sz="3600">
                <a:solidFill>
                  <a:srgbClr val="0F1E26"/>
                </a:solidFill>
                <a:latin typeface="Segoe UI Light"/>
              </a:rPr>
              <a:t>Conclusion</a:t>
            </a:r>
          </a:p>
        </p:txBody>
      </p:sp>
      <p:sp>
        <p:nvSpPr>
          <p:cNvPr id="3" name="TextBox 2"/>
          <p:cNvSpPr txBox="1"/>
          <p:nvPr/>
        </p:nvSpPr>
        <p:spPr>
          <a:xfrm>
            <a:off x="612648" y="2423160"/>
            <a:ext cx="4709160" cy="3200400"/>
          </a:xfrm>
          <a:prstGeom prst="rect">
            <a:avLst/>
          </a:prstGeom>
          <a:noFill/>
        </p:spPr>
        <p:txBody>
          <a:bodyPr wrap="square" lIns="0" rIns="0" tIns="0" bIns="0" anchor="t">
            <a:spAutoFit/>
          </a:bodyPr>
          <a:lstStyle/>
          <a:p>
            <a:pPr algn="l">
              <a:lnSpc>
                <a:spcPct val="110000"/>
              </a:lnSpc>
            </a:pPr>
            <a:r>
              <a:rPr sz="1650">
                <a:solidFill>
                  <a:srgbClr val="0F1E26"/>
                </a:solidFill>
                <a:latin typeface="Segoe UI Semibold"/>
              </a:rPr>
              <a:t>Interval dynamic programming </a:t>
            </a:r>
            <a:r>
              <a:rPr sz="1650">
                <a:solidFill>
                  <a:srgbClr val="2A3A43"/>
                </a:solidFill>
                <a:latin typeface="Segoe UI"/>
              </a:rPr>
              <a:t>finds the optimal BST by solving every key range once, shortest first: </a:t>
            </a:r>
            <a:r>
              <a:rPr sz="1650">
                <a:solidFill>
                  <a:srgbClr val="0F1E26"/>
                </a:solidFill>
                <a:latin typeface="Segoe UI Semibold"/>
              </a:rPr>
              <a:t>W, C and R</a:t>
            </a:r>
            <a:r>
              <a:rPr sz="1650">
                <a:solidFill>
                  <a:srgbClr val="2A3A43"/>
                </a:solidFill>
                <a:latin typeface="Segoe UI"/>
              </a:rPr>
              <a:t> are filled diagonal by diagonal in O(n³), and the tree is rebuilt from R. For our example the cost is 26 against 31 for a balanced tree. Our app makes each step visible through the </a:t>
            </a:r>
            <a:r>
              <a:rPr sz="1650">
                <a:solidFill>
                  <a:srgbClr val="0F1E26"/>
                </a:solidFill>
                <a:latin typeface="Segoe UI Semibold"/>
              </a:rPr>
              <a:t>DP table</a:t>
            </a:r>
            <a:r>
              <a:rPr sz="1650">
                <a:solidFill>
                  <a:srgbClr val="2A3A43"/>
                </a:solidFill>
                <a:latin typeface="Segoe UI"/>
              </a:rPr>
              <a:t>, </a:t>
            </a:r>
            <a:r>
              <a:rPr sz="1650">
                <a:solidFill>
                  <a:srgbClr val="0F1E26"/>
                </a:solidFill>
                <a:latin typeface="Segoe UI Semibold"/>
              </a:rPr>
              <a:t>tree</a:t>
            </a:r>
            <a:r>
              <a:rPr sz="1650">
                <a:solidFill>
                  <a:srgbClr val="2A3A43"/>
                </a:solidFill>
                <a:latin typeface="Segoe UI"/>
              </a:rPr>
              <a:t>, </a:t>
            </a:r>
            <a:r>
              <a:rPr sz="1650">
                <a:solidFill>
                  <a:srgbClr val="0F1E26"/>
                </a:solidFill>
                <a:latin typeface="Segoe UI Semibold"/>
              </a:rPr>
              <a:t>search simulation</a:t>
            </a:r>
            <a:r>
              <a:rPr sz="1650">
                <a:solidFill>
                  <a:srgbClr val="2A3A43"/>
                </a:solidFill>
                <a:latin typeface="Segoe UI"/>
              </a:rPr>
              <a:t> and </a:t>
            </a:r>
            <a:r>
              <a:rPr sz="1650">
                <a:solidFill>
                  <a:srgbClr val="0F1E26"/>
                </a:solidFill>
                <a:latin typeface="Segoe UI Semibold"/>
              </a:rPr>
              <a:t>cost breakdown</a:t>
            </a:r>
            <a:r>
              <a:rPr sz="1650">
                <a:solidFill>
                  <a:srgbClr val="2A3A43"/>
                </a:solidFill>
                <a:latin typeface="Segoe UI"/>
              </a:rPr>
              <a:t>.</a:t>
            </a:r>
          </a:p>
        </p:txBody>
      </p:sp>
      <p:sp>
        <p:nvSpPr>
          <p:cNvPr id="4" name="Column divider"/>
          <p:cNvSpPr/>
          <p:nvPr/>
        </p:nvSpPr>
        <p:spPr>
          <a:xfrm>
            <a:off x="5513832" y="1307592"/>
            <a:ext cx="54864" cy="3566160"/>
          </a:xfrm>
          <a:prstGeom prst="rect">
            <a:avLst/>
          </a:prstGeom>
          <a:solidFill>
            <a:srgbClr val="B7C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79008" y="1645920"/>
            <a:ext cx="5806440" cy="594360"/>
          </a:xfrm>
          <a:prstGeom prst="rect">
            <a:avLst/>
          </a:prstGeom>
          <a:noFill/>
        </p:spPr>
        <p:txBody>
          <a:bodyPr wrap="square" lIns="0" rIns="0" tIns="0" bIns="0" anchor="t">
            <a:spAutoFit/>
          </a:bodyPr>
          <a:lstStyle/>
          <a:p>
            <a:pPr algn="l"/>
            <a:r>
              <a:rPr sz="3600">
                <a:solidFill>
                  <a:srgbClr val="0F1E26"/>
                </a:solidFill>
                <a:latin typeface="Segoe UI Light"/>
              </a:rPr>
              <a:t>Future Scope</a:t>
            </a:r>
          </a:p>
        </p:txBody>
      </p:sp>
      <p:sp>
        <p:nvSpPr>
          <p:cNvPr id="6" name="TextBox 5"/>
          <p:cNvSpPr txBox="1"/>
          <p:nvPr/>
        </p:nvSpPr>
        <p:spPr>
          <a:xfrm>
            <a:off x="5779008" y="2423160"/>
            <a:ext cx="5806440" cy="2926080"/>
          </a:xfrm>
          <a:prstGeom prst="rect">
            <a:avLst/>
          </a:prstGeom>
          <a:noFill/>
        </p:spPr>
        <p:txBody>
          <a:bodyPr wrap="square" lIns="0" rIns="0" tIns="0" bIns="0" anchor="t">
            <a:spAutoFit/>
          </a:bodyPr>
          <a:lstStyle/>
          <a:p>
            <a:pPr algn="l" marL="274320" indent="-274320">
              <a:spcAft>
                <a:spcPts val="800"/>
              </a:spcAft>
              <a:buFont typeface="Arial"/>
              <a:buChar char="•"/>
            </a:pPr>
            <a:r>
              <a:rPr sz="1650">
                <a:solidFill>
                  <a:srgbClr val="2A3A43"/>
                </a:solidFill>
                <a:latin typeface="Segoe UI"/>
              </a:rPr>
              <a:t>Support unsuccessful search frequencies (q values and dummy nodes).</a:t>
            </a:r>
          </a:p>
          <a:p>
            <a:pPr algn="l" marL="274320" indent="-274320">
              <a:spcAft>
                <a:spcPts val="800"/>
              </a:spcAft>
              <a:buFont typeface="Arial"/>
              <a:buChar char="•"/>
            </a:pPr>
            <a:r>
              <a:rPr sz="1650">
                <a:solidFill>
                  <a:srgbClr val="2A3A43"/>
                </a:solidFill>
                <a:latin typeface="Segoe UI"/>
              </a:rPr>
              <a:t>Apply Knuth's optimization to reduce the time to O(n²).</a:t>
            </a:r>
          </a:p>
          <a:p>
            <a:pPr algn="l" marL="274320" indent="-274320">
              <a:spcAft>
                <a:spcPts val="800"/>
              </a:spcAft>
              <a:buFont typeface="Arial"/>
              <a:buChar char="•"/>
            </a:pPr>
            <a:r>
              <a:rPr sz="1650">
                <a:solidFill>
                  <a:srgbClr val="2A3A43"/>
                </a:solidFill>
                <a:latin typeface="Segoe UI"/>
              </a:rPr>
              <a:t>Add a step-by-step animation of the DP table filling.</a:t>
            </a:r>
          </a:p>
          <a:p>
            <a:pPr algn="l" marL="274320" indent="-274320">
              <a:spcAft>
                <a:spcPts val="800"/>
              </a:spcAft>
              <a:buFont typeface="Arial"/>
              <a:buChar char="•"/>
            </a:pPr>
            <a:r>
              <a:rPr sz="1650">
                <a:solidFill>
                  <a:srgbClr val="2A3A43"/>
                </a:solidFill>
                <a:latin typeface="Segoe UI"/>
              </a:rPr>
              <a:t>Compare with AVL and other balanced trees.</a:t>
            </a:r>
          </a:p>
          <a:p>
            <a:pPr algn="l" marL="274320" indent="-274320">
              <a:spcAft>
                <a:spcPts val="800"/>
              </a:spcAft>
              <a:buFont typeface="Arial"/>
              <a:buChar char="•"/>
            </a:pPr>
            <a:r>
              <a:rPr sz="1650">
                <a:solidFill>
                  <a:srgbClr val="2A3A43"/>
                </a:solidFill>
                <a:latin typeface="Segoe UI"/>
              </a:rPr>
              <a:t>Export results as PDF.</a:t>
            </a:r>
          </a:p>
        </p:txBody>
      </p:sp>
      <p:sp>
        <p:nvSpPr>
          <p:cNvPr id="7" name="Slide number"/>
          <p:cNvSpPr txBox="1"/>
          <p:nvPr/>
        </p:nvSpPr>
        <p:spPr>
          <a:xfrm>
            <a:off x="11128248" y="6419088"/>
            <a:ext cx="457200" cy="201168"/>
          </a:xfrm>
          <a:prstGeom prst="rect">
            <a:avLst/>
          </a:prstGeom>
          <a:noFill/>
        </p:spPr>
        <p:txBody>
          <a:bodyPr wrap="square" lIns="0" rIns="0" tIns="0" bIns="0" anchor="t">
            <a:spAutoFit/>
          </a:bodyPr>
          <a:lstStyle/>
          <a:p>
            <a:pPr algn="r"/>
            <a:r>
              <a:rPr sz="1050">
                <a:solidFill>
                  <a:srgbClr val="55656E"/>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B"/>
        </a:solidFill>
        <a:effectLst/>
      </p:bgPr>
    </p:bg>
    <p:spTree>
      <p:nvGrpSpPr>
        <p:cNvPr id="1" name=""/>
        <p:cNvGrpSpPr/>
        <p:nvPr/>
      </p:nvGrpSpPr>
      <p:grpSpPr/>
      <p:sp>
        <p:nvSpPr>
          <p:cNvPr id="2" name="TextBox 1"/>
          <p:cNvSpPr txBox="1"/>
          <p:nvPr/>
        </p:nvSpPr>
        <p:spPr>
          <a:xfrm>
            <a:off x="612648" y="2834640"/>
            <a:ext cx="10972800" cy="914400"/>
          </a:xfrm>
          <a:prstGeom prst="rect">
            <a:avLst/>
          </a:prstGeom>
          <a:noFill/>
        </p:spPr>
        <p:txBody>
          <a:bodyPr wrap="square" lIns="0" rIns="0" tIns="0" bIns="0" anchor="ctr">
            <a:spAutoFit/>
          </a:bodyPr>
          <a:lstStyle/>
          <a:p>
            <a:pPr algn="ctr"/>
            <a:r>
              <a:rPr sz="5400">
                <a:solidFill>
                  <a:srgbClr val="0F1E26"/>
                </a:solidFill>
                <a:latin typeface="Segoe UI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